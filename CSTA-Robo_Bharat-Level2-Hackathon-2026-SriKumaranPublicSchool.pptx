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8" r:id="rId2"/>
    <p:sldId id="259" r:id="rId3"/>
    <p:sldId id="260" r:id="rId4"/>
    <p:sldId id="261" r:id="rId5"/>
    <p:sldId id="265" r:id="rId6"/>
    <p:sldId id="268" r:id="rId7"/>
    <p:sldId id="270" r:id="rId8"/>
    <p:sldId id="271" r:id="rId9"/>
    <p:sldId id="262" r:id="rId10"/>
    <p:sldId id="264" r:id="rId11"/>
    <p:sldId id="263" r:id="rId12"/>
  </p:sldIdLst>
  <p:sldSz cx="12192000" cy="6858000"/>
  <p:notesSz cx="6858000" cy="9144000"/>
  <p:embeddedFontLst>
    <p:embeddedFont>
      <p:font typeface="Play" panose="020B0604020202020204" charset="0"/>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jj5ZqYK+Ja1XPXk/Sq/Ed8fNPN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E291"/>
    <a:srgbClr val="BFBFBF"/>
    <a:srgbClr val="15608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28" name="Google Shape;12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Arial"/>
                <a:ea typeface="Arial"/>
                <a:cs typeface="Arial"/>
                <a:sym typeface="Arial"/>
              </a:rPr>
              <a:t>5</a:t>
            </a:fld>
            <a:endParaRPr lang="en-IN"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20287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8" name="Google Shape;68;p1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6" r:id="rId2"/>
    <p:sldLayoutId id="2147483657" r:id="rId3"/>
    <p:sldLayoutId id="2147483658" r:id="rId4"/>
    <p:sldLayoutId id="2147483659"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9.jp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hyperlink" Target="https://docs.google.com/document/d/1ZCZfzZupEzLPW2j9h5pHD_JS4Qk-SkGE9nn89oN3pU8/edit?tab=t.0"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0" y="18255"/>
            <a:ext cx="12192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IN" dirty="0"/>
              <a:t> Sri Kumaran Public School – ICSE, </a:t>
            </a:r>
            <a:r>
              <a:rPr lang="en-IN" dirty="0" err="1"/>
              <a:t>Mallasandra</a:t>
            </a:r>
            <a:endParaRPr dirty="0"/>
          </a:p>
        </p:txBody>
      </p:sp>
      <p:sp>
        <p:nvSpPr>
          <p:cNvPr id="99" name="Google Shape;99;p3"/>
          <p:cNvSpPr txBox="1">
            <a:spLocks noGrp="1"/>
          </p:cNvSpPr>
          <p:nvPr>
            <p:ph type="body" idx="1"/>
          </p:nvPr>
        </p:nvSpPr>
        <p:spPr>
          <a:xfrm>
            <a:off x="264092" y="1213461"/>
            <a:ext cx="8908483" cy="1786914"/>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1000"/>
              </a:spcBef>
              <a:spcAft>
                <a:spcPts val="0"/>
              </a:spcAft>
              <a:buClr>
                <a:schemeClr val="dk1"/>
              </a:buClr>
              <a:buSzPts val="3600"/>
              <a:buChar char="•"/>
            </a:pPr>
            <a:r>
              <a:rPr lang="en-IN" sz="3600" dirty="0">
                <a:solidFill>
                  <a:schemeClr val="accent1"/>
                </a:solidFill>
              </a:rPr>
              <a:t>Solution name: </a:t>
            </a:r>
            <a:r>
              <a:rPr lang="en-IN" sz="3600" b="1" dirty="0">
                <a:solidFill>
                  <a:schemeClr val="accent1"/>
                </a:solidFill>
              </a:rPr>
              <a:t>Arogya Setu</a:t>
            </a:r>
            <a:endParaRPr dirty="0">
              <a:solidFill>
                <a:schemeClr val="accent1"/>
              </a:solidFill>
            </a:endParaRPr>
          </a:p>
        </p:txBody>
      </p:sp>
      <p:sp>
        <p:nvSpPr>
          <p:cNvPr id="100" name="Google Shape;100;p3"/>
          <p:cNvSpPr txBox="1"/>
          <p:nvPr/>
        </p:nvSpPr>
        <p:spPr>
          <a:xfrm>
            <a:off x="295275" y="2193023"/>
            <a:ext cx="8010525" cy="4275247"/>
          </a:xfrm>
          <a:prstGeom prst="rect">
            <a:avLst/>
          </a:prstGeom>
          <a:noFill/>
          <a:ln>
            <a:noFill/>
          </a:ln>
        </p:spPr>
        <p:txBody>
          <a:bodyPr spcFirstLastPara="1" wrap="square" lIns="91425" tIns="45700" rIns="91425" bIns="45700" anchor="t" anchorCtr="0">
            <a:normAutofit lnSpcReduction="10000"/>
          </a:bodyPr>
          <a:lstStyle/>
          <a:p>
            <a:pPr marL="228600" indent="-228600">
              <a:lnSpc>
                <a:spcPct val="150000"/>
              </a:lnSpc>
              <a:buClr>
                <a:schemeClr val="dk1"/>
              </a:buClr>
              <a:buSzPts val="3200"/>
              <a:buFont typeface="Arial"/>
              <a:buChar char="•"/>
            </a:pPr>
            <a:r>
              <a:rPr lang="en-IN" sz="3200" dirty="0"/>
              <a:t>Team name: </a:t>
            </a:r>
            <a:r>
              <a:rPr lang="en-IN" sz="3200" b="1" dirty="0"/>
              <a:t>Positrons</a:t>
            </a:r>
            <a:endParaRPr lang="en-IN" sz="3200" dirty="0"/>
          </a:p>
          <a:p>
            <a:pPr marL="228600" marR="0" lvl="0" indent="-228600" algn="l" rtl="0">
              <a:lnSpc>
                <a:spcPct val="150000"/>
              </a:lnSpc>
              <a:spcBef>
                <a:spcPts val="0"/>
              </a:spcBef>
              <a:spcAft>
                <a:spcPts val="0"/>
              </a:spcAft>
              <a:buClr>
                <a:schemeClr val="dk1"/>
              </a:buClr>
              <a:buSzPts val="3200"/>
              <a:buFont typeface="Arial"/>
              <a:buChar char="•"/>
            </a:pPr>
            <a:r>
              <a:rPr lang="en-IN" sz="3200" b="0" i="0" u="none" strike="noStrike" cap="none" dirty="0">
                <a:solidFill>
                  <a:schemeClr val="dk1"/>
                </a:solidFill>
                <a:latin typeface="Arial"/>
                <a:ea typeface="Arial"/>
                <a:cs typeface="Arial"/>
                <a:sym typeface="Arial"/>
              </a:rPr>
              <a:t>Team members:</a:t>
            </a:r>
            <a:endParaRPr sz="3200" dirty="0"/>
          </a:p>
          <a:p>
            <a:pPr marL="685800" marR="0" lvl="1" indent="-228600" algn="l" rtl="0">
              <a:lnSpc>
                <a:spcPct val="150000"/>
              </a:lnSpc>
              <a:spcBef>
                <a:spcPts val="500"/>
              </a:spcBef>
              <a:spcAft>
                <a:spcPts val="0"/>
              </a:spcAft>
              <a:buClr>
                <a:schemeClr val="dk1"/>
              </a:buClr>
              <a:buSzPts val="3200"/>
              <a:buFont typeface="Arial"/>
              <a:buChar char="•"/>
            </a:pPr>
            <a:r>
              <a:rPr lang="en-IN" sz="2800" b="0" i="0" u="none" strike="noStrike" cap="none" dirty="0" err="1">
                <a:solidFill>
                  <a:schemeClr val="dk1"/>
                </a:solidFill>
                <a:latin typeface="Arial"/>
                <a:ea typeface="Arial"/>
                <a:cs typeface="Arial"/>
                <a:sym typeface="Arial"/>
              </a:rPr>
              <a:t>Advaiy</a:t>
            </a:r>
            <a:r>
              <a:rPr lang="en-IN" sz="2800" b="0" i="0" u="none" strike="noStrike" cap="none" dirty="0">
                <a:solidFill>
                  <a:schemeClr val="dk1"/>
                </a:solidFill>
                <a:latin typeface="Arial"/>
                <a:ea typeface="Arial"/>
                <a:cs typeface="Arial"/>
                <a:sym typeface="Arial"/>
              </a:rPr>
              <a:t> Vasishta</a:t>
            </a:r>
            <a:endParaRPr sz="2800" dirty="0"/>
          </a:p>
          <a:p>
            <a:pPr marL="685800" marR="0" lvl="1" indent="-228600" algn="l" rtl="0">
              <a:lnSpc>
                <a:spcPct val="150000"/>
              </a:lnSpc>
              <a:spcBef>
                <a:spcPts val="500"/>
              </a:spcBef>
              <a:spcAft>
                <a:spcPts val="0"/>
              </a:spcAft>
              <a:buClr>
                <a:schemeClr val="dk1"/>
              </a:buClr>
              <a:buSzPts val="3200"/>
              <a:buFont typeface="Arial"/>
              <a:buChar char="•"/>
            </a:pPr>
            <a:r>
              <a:rPr lang="en-IN" sz="2800" b="0" i="0" u="none" strike="noStrike" cap="none" dirty="0">
                <a:solidFill>
                  <a:schemeClr val="dk1"/>
                </a:solidFill>
                <a:latin typeface="Arial"/>
                <a:ea typeface="Arial"/>
                <a:cs typeface="Arial"/>
                <a:sym typeface="Arial"/>
              </a:rPr>
              <a:t>Adyant Anbarasan</a:t>
            </a:r>
            <a:endParaRPr sz="2800" dirty="0"/>
          </a:p>
          <a:p>
            <a:pPr marL="685800" marR="0" lvl="1" indent="-228600" algn="l" rtl="0">
              <a:lnSpc>
                <a:spcPct val="150000"/>
              </a:lnSpc>
              <a:spcBef>
                <a:spcPts val="500"/>
              </a:spcBef>
              <a:spcAft>
                <a:spcPts val="0"/>
              </a:spcAft>
              <a:buClr>
                <a:schemeClr val="dk1"/>
              </a:buClr>
              <a:buSzPts val="3200"/>
              <a:buFont typeface="Arial"/>
              <a:buChar char="•"/>
            </a:pPr>
            <a:r>
              <a:rPr lang="en-IN" sz="2800" b="0" i="0" u="none" strike="noStrike" cap="none" dirty="0" err="1">
                <a:solidFill>
                  <a:schemeClr val="dk1"/>
                </a:solidFill>
                <a:latin typeface="Arial"/>
                <a:ea typeface="Arial"/>
                <a:cs typeface="Arial"/>
                <a:sym typeface="Arial"/>
              </a:rPr>
              <a:t>Akshobha</a:t>
            </a:r>
            <a:r>
              <a:rPr lang="en-IN" sz="2800" b="0" i="0" u="none" strike="noStrike" cap="none" dirty="0">
                <a:solidFill>
                  <a:schemeClr val="dk1"/>
                </a:solidFill>
                <a:latin typeface="Arial"/>
                <a:ea typeface="Arial"/>
                <a:cs typeface="Arial"/>
                <a:sym typeface="Arial"/>
              </a:rPr>
              <a:t> Aravind </a:t>
            </a:r>
            <a:endParaRPr sz="2800" dirty="0"/>
          </a:p>
          <a:p>
            <a:pPr marL="685800" marR="0" lvl="1" indent="-228600" algn="l" rtl="0">
              <a:lnSpc>
                <a:spcPct val="150000"/>
              </a:lnSpc>
              <a:spcBef>
                <a:spcPts val="500"/>
              </a:spcBef>
              <a:spcAft>
                <a:spcPts val="0"/>
              </a:spcAft>
              <a:buClr>
                <a:schemeClr val="dk1"/>
              </a:buClr>
              <a:buSzPts val="3200"/>
              <a:buFont typeface="Arial"/>
              <a:buChar char="•"/>
            </a:pPr>
            <a:r>
              <a:rPr lang="en-IN" sz="2800" b="0" i="0" u="none" strike="noStrike" cap="none" dirty="0">
                <a:solidFill>
                  <a:schemeClr val="dk1"/>
                </a:solidFill>
                <a:latin typeface="Arial"/>
                <a:ea typeface="Arial"/>
                <a:cs typeface="Arial"/>
                <a:sym typeface="Arial"/>
              </a:rPr>
              <a:t>Chirantan R. D. Poojary</a:t>
            </a:r>
            <a:endParaRPr sz="2800" dirty="0"/>
          </a:p>
        </p:txBody>
      </p:sp>
      <p:pic>
        <p:nvPicPr>
          <p:cNvPr id="3" name="Picture 2">
            <a:extLst>
              <a:ext uri="{FF2B5EF4-FFF2-40B4-BE49-F238E27FC236}">
                <a16:creationId xmlns:a16="http://schemas.microsoft.com/office/drawing/2014/main" id="{A0D13342-DDEA-C102-0267-640B4CBCEE46}"/>
              </a:ext>
            </a:extLst>
          </p:cNvPr>
          <p:cNvPicPr>
            <a:picLocks noChangeAspect="1"/>
          </p:cNvPicPr>
          <p:nvPr/>
        </p:nvPicPr>
        <p:blipFill>
          <a:blip r:embed="rId3"/>
          <a:stretch>
            <a:fillRect/>
          </a:stretch>
        </p:blipFill>
        <p:spPr>
          <a:xfrm>
            <a:off x="7681913" y="2781300"/>
            <a:ext cx="2409825" cy="24098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0" y="18255"/>
            <a:ext cx="12192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IN" dirty="0">
                <a:latin typeface="Arial"/>
                <a:ea typeface="Arial"/>
                <a:cs typeface="Arial"/>
                <a:sym typeface="Arial"/>
              </a:rPr>
              <a:t> Problem Statement &amp; SDG Alignment</a:t>
            </a:r>
            <a:endParaRPr dirty="0"/>
          </a:p>
        </p:txBody>
      </p:sp>
      <p:sp>
        <p:nvSpPr>
          <p:cNvPr id="106" name="Google Shape;106;p4"/>
          <p:cNvSpPr txBox="1">
            <a:spLocks noGrp="1"/>
          </p:cNvSpPr>
          <p:nvPr>
            <p:ph type="body" idx="1"/>
          </p:nvPr>
        </p:nvSpPr>
        <p:spPr>
          <a:xfrm>
            <a:off x="276225" y="1343817"/>
            <a:ext cx="6791325" cy="549592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ct val="100000"/>
              <a:buChar char="•"/>
            </a:pPr>
            <a:r>
              <a:rPr lang="en-IN" sz="1600" b="1" dirty="0"/>
              <a:t>Healthcare: Rural Healthcare,  SDG 3</a:t>
            </a:r>
            <a:endParaRPr sz="1600" dirty="0"/>
          </a:p>
          <a:p>
            <a:pPr marL="228600" lvl="0" indent="-228600" algn="l" rtl="0">
              <a:lnSpc>
                <a:spcPct val="90000"/>
              </a:lnSpc>
              <a:spcBef>
                <a:spcPts val="1000"/>
              </a:spcBef>
              <a:spcAft>
                <a:spcPts val="0"/>
              </a:spcAft>
              <a:buClr>
                <a:schemeClr val="dk1"/>
              </a:buClr>
              <a:buSzPct val="100000"/>
              <a:buChar char="•"/>
            </a:pPr>
            <a:r>
              <a:rPr lang="en-IN" sz="1600" b="1" dirty="0"/>
              <a:t>Problem Statement: </a:t>
            </a:r>
            <a:r>
              <a:rPr lang="en-IN" sz="1600" dirty="0"/>
              <a:t>Rural people have challenges in accessing quality health care. Diseases like, diarrhea, tuberculosis, malaria, are prevalent in rural Karnataka. This requires people to have access to health care within a reasonable distance and time of their locality. The rural hospitals in Karnataka have specialized departments that provide medications to patient suffering from diseases. However, rural people face issues in terms of average commute time to a hospital, the waiting time in the hospital, and availability of the prescribed medication at the hospital pharmacy. Thus, these problems have to be solved in order to provide good healthcare to rural people.</a:t>
            </a:r>
            <a:br>
              <a:rPr lang="en-IN" sz="1600" b="0" dirty="0"/>
            </a:br>
            <a:endParaRPr sz="1600" b="0" dirty="0"/>
          </a:p>
          <a:p>
            <a:pPr marL="228600" lvl="0" indent="-228600" algn="l" rtl="0">
              <a:lnSpc>
                <a:spcPct val="90000"/>
              </a:lnSpc>
              <a:spcBef>
                <a:spcPts val="1000"/>
              </a:spcBef>
              <a:spcAft>
                <a:spcPts val="0"/>
              </a:spcAft>
              <a:buClr>
                <a:schemeClr val="dk1"/>
              </a:buClr>
              <a:buSzPct val="100000"/>
              <a:buChar char="•"/>
            </a:pPr>
            <a:r>
              <a:rPr lang="en-IN" sz="1600" dirty="0"/>
              <a:t>The problem statement was arrived at using the Design Thinking principles. In order to make sure that the </a:t>
            </a:r>
            <a:r>
              <a:rPr lang="en-IN" sz="1600" b="1" dirty="0"/>
              <a:t>problems highlighted in it are legitimate problems for our user, we read a user transcript interview that was conducted in rural areas near Bangalore </a:t>
            </a:r>
            <a:r>
              <a:rPr lang="en-IN" sz="1600" dirty="0"/>
              <a:t>(Hosahalli, DJ Halli and </a:t>
            </a:r>
            <a:r>
              <a:rPr lang="en-IN" sz="1600" dirty="0" err="1"/>
              <a:t>Chandenahalli</a:t>
            </a:r>
            <a:r>
              <a:rPr lang="en-IN" sz="1600" dirty="0"/>
              <a:t>) and the users highlighted the problems mentioned. </a:t>
            </a:r>
          </a:p>
          <a:p>
            <a:pPr marL="228600" lvl="0" indent="-228600" algn="l" rtl="0">
              <a:lnSpc>
                <a:spcPct val="90000"/>
              </a:lnSpc>
              <a:spcBef>
                <a:spcPts val="1000"/>
              </a:spcBef>
              <a:spcAft>
                <a:spcPts val="0"/>
              </a:spcAft>
              <a:buClr>
                <a:schemeClr val="dk1"/>
              </a:buClr>
              <a:buSzPct val="100000"/>
              <a:buChar char="•"/>
            </a:pPr>
            <a:r>
              <a:rPr lang="en-IN" sz="1600" b="0" dirty="0"/>
              <a:t>User base: People in Rural areas.</a:t>
            </a:r>
            <a:endParaRPr sz="1600" b="0" dirty="0"/>
          </a:p>
          <a:p>
            <a:pPr marL="228600" lvl="0" indent="-228600" algn="l" rtl="0">
              <a:lnSpc>
                <a:spcPct val="90000"/>
              </a:lnSpc>
              <a:spcBef>
                <a:spcPts val="1000"/>
              </a:spcBef>
              <a:spcAft>
                <a:spcPts val="0"/>
              </a:spcAft>
              <a:buClr>
                <a:schemeClr val="dk1"/>
              </a:buClr>
              <a:buSzPct val="100000"/>
              <a:buChar char="•"/>
            </a:pPr>
            <a:r>
              <a:rPr lang="en-IN" sz="1600" b="1" dirty="0"/>
              <a:t>Application of the project: </a:t>
            </a:r>
            <a:r>
              <a:rPr lang="en-IN" sz="1600" dirty="0"/>
              <a:t>To improve accessibility of healthcare in rural Karnataka and minimize time for receiving healthcare.</a:t>
            </a:r>
            <a:endParaRPr sz="1600" dirty="0"/>
          </a:p>
        </p:txBody>
      </p:sp>
      <p:grpSp>
        <p:nvGrpSpPr>
          <p:cNvPr id="107" name="Google Shape;107;p4"/>
          <p:cNvGrpSpPr/>
          <p:nvPr/>
        </p:nvGrpSpPr>
        <p:grpSpPr>
          <a:xfrm>
            <a:off x="7162799" y="1286667"/>
            <a:ext cx="4895851" cy="5390357"/>
            <a:chOff x="6309360" y="-814185"/>
            <a:chExt cx="5303520" cy="6986385"/>
          </a:xfrm>
        </p:grpSpPr>
        <p:sp>
          <p:nvSpPr>
            <p:cNvPr id="108" name="Google Shape;108;p4"/>
            <p:cNvSpPr/>
            <p:nvPr/>
          </p:nvSpPr>
          <p:spPr>
            <a:xfrm>
              <a:off x="6309360" y="-814185"/>
              <a:ext cx="5303520" cy="6986385"/>
            </a:xfrm>
            <a:prstGeom prst="roundRect">
              <a:avLst>
                <a:gd name="adj" fmla="val 2069"/>
              </a:avLst>
            </a:prstGeom>
            <a:solidFill>
              <a:srgbClr val="F2FBF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9" name="Google Shape;109;p4"/>
            <p:cNvSpPr/>
            <p:nvPr/>
          </p:nvSpPr>
          <p:spPr>
            <a:xfrm>
              <a:off x="6505406" y="-631304"/>
              <a:ext cx="5107474" cy="1801042"/>
            </a:xfrm>
            <a:prstGeom prst="rect">
              <a:avLst/>
            </a:prstGeom>
            <a:noFill/>
            <a:ln>
              <a:noFill/>
            </a:ln>
          </p:spPr>
          <p:txBody>
            <a:bodyPr spcFirstLastPara="1" wrap="square" lIns="0" tIns="0" rIns="0" bIns="0" anchor="ctr" anchorCtr="0">
              <a:noAutofit/>
            </a:bodyPr>
            <a:lstStyle/>
            <a:p>
              <a:pPr marL="0" marR="0" lvl="0" indent="0" algn="l" rtl="0">
                <a:lnSpc>
                  <a:spcPct val="137500"/>
                </a:lnSpc>
                <a:spcBef>
                  <a:spcPts val="0"/>
                </a:spcBef>
                <a:spcAft>
                  <a:spcPts val="0"/>
                </a:spcAft>
                <a:buNone/>
              </a:pPr>
              <a:r>
                <a:rPr lang="en-IN" sz="1600" dirty="0">
                  <a:solidFill>
                    <a:schemeClr val="dk1"/>
                  </a:solidFill>
                  <a:latin typeface="Arial"/>
                  <a:ea typeface="Arial"/>
                  <a:cs typeface="Arial"/>
                  <a:sym typeface="Arial"/>
                </a:rPr>
                <a:t>In rural India, the nearest doctor is often hours away. Small illnesses go unchecked until they become serious, and district hospitals tend to stay overcrowded with multiple cases.</a:t>
              </a:r>
              <a:endParaRPr sz="1600" dirty="0">
                <a:solidFill>
                  <a:schemeClr val="dk1"/>
                </a:solidFill>
                <a:latin typeface="Arial"/>
                <a:ea typeface="Arial"/>
                <a:cs typeface="Arial"/>
                <a:sym typeface="Arial"/>
              </a:endParaRPr>
            </a:p>
          </p:txBody>
        </p:sp>
        <p:sp>
          <p:nvSpPr>
            <p:cNvPr id="110" name="Google Shape;110;p4"/>
            <p:cNvSpPr/>
            <p:nvPr/>
          </p:nvSpPr>
          <p:spPr>
            <a:xfrm>
              <a:off x="6675120" y="1508760"/>
              <a:ext cx="502920" cy="502920"/>
            </a:xfrm>
            <a:prstGeom prst="ellipse">
              <a:avLst/>
            </a:prstGeom>
            <a:solidFill>
              <a:srgbClr val="FFFFFF"/>
            </a:solidFill>
            <a:ln w="19050" cap="flat" cmpd="sng">
              <a:solidFill>
                <a:srgbClr val="02C39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11" name="Google Shape;111;p4" descr="preencoded.png"/>
            <p:cNvPicPr preferRelativeResize="0"/>
            <p:nvPr/>
          </p:nvPicPr>
          <p:blipFill rotWithShape="1">
            <a:blip r:embed="rId3">
              <a:alphaModFix/>
            </a:blip>
            <a:srcRect/>
            <a:stretch/>
          </p:blipFill>
          <p:spPr>
            <a:xfrm>
              <a:off x="6775704" y="1609344"/>
              <a:ext cx="301752" cy="301752"/>
            </a:xfrm>
            <a:prstGeom prst="rect">
              <a:avLst/>
            </a:prstGeom>
            <a:noFill/>
            <a:ln>
              <a:noFill/>
            </a:ln>
          </p:spPr>
        </p:pic>
        <p:sp>
          <p:nvSpPr>
            <p:cNvPr id="112" name="Google Shape;112;p4"/>
            <p:cNvSpPr/>
            <p:nvPr/>
          </p:nvSpPr>
          <p:spPr>
            <a:xfrm>
              <a:off x="7360920" y="1275917"/>
              <a:ext cx="4114800" cy="320039"/>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500"/>
                <a:buFont typeface="Arial"/>
                <a:buNone/>
              </a:pPr>
              <a:r>
                <a:rPr lang="en-IN" sz="1500" b="1" dirty="0">
                  <a:solidFill>
                    <a:srgbClr val="028090"/>
                  </a:solidFill>
                  <a:latin typeface="Arial"/>
                  <a:ea typeface="Arial"/>
                  <a:cs typeface="Arial"/>
                  <a:sym typeface="Arial"/>
                </a:rPr>
                <a:t>Too few doctors</a:t>
              </a:r>
              <a:endParaRPr sz="1500" dirty="0">
                <a:solidFill>
                  <a:schemeClr val="dk1"/>
                </a:solidFill>
                <a:latin typeface="Arial"/>
                <a:ea typeface="Arial"/>
                <a:cs typeface="Arial"/>
                <a:sym typeface="Arial"/>
              </a:endParaRPr>
            </a:p>
          </p:txBody>
        </p:sp>
        <p:sp>
          <p:nvSpPr>
            <p:cNvPr id="113" name="Google Shape;113;p4"/>
            <p:cNvSpPr/>
            <p:nvPr/>
          </p:nvSpPr>
          <p:spPr>
            <a:xfrm>
              <a:off x="7360920" y="1577669"/>
              <a:ext cx="4114800" cy="68580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5A6B70"/>
                </a:buClr>
                <a:buSzPts val="1250"/>
                <a:buFont typeface="Arial"/>
                <a:buNone/>
              </a:pPr>
              <a:r>
                <a:rPr lang="en-IN" sz="1250" dirty="0">
                  <a:solidFill>
                    <a:srgbClr val="5A6B70"/>
                  </a:solidFill>
                  <a:latin typeface="Arial"/>
                  <a:ea typeface="Arial"/>
                  <a:cs typeface="Arial"/>
                  <a:sym typeface="Arial"/>
                </a:rPr>
                <a:t>~1 doctor for every 1,500+ people in rural areas — far below WHO's recommendation.</a:t>
              </a:r>
              <a:endParaRPr sz="1250" dirty="0">
                <a:solidFill>
                  <a:schemeClr val="dk1"/>
                </a:solidFill>
                <a:latin typeface="Arial"/>
                <a:ea typeface="Arial"/>
                <a:cs typeface="Arial"/>
                <a:sym typeface="Arial"/>
              </a:endParaRPr>
            </a:p>
          </p:txBody>
        </p:sp>
        <p:sp>
          <p:nvSpPr>
            <p:cNvPr id="114" name="Google Shape;114;p4"/>
            <p:cNvSpPr/>
            <p:nvPr/>
          </p:nvSpPr>
          <p:spPr>
            <a:xfrm>
              <a:off x="6675120" y="2679192"/>
              <a:ext cx="502920" cy="502920"/>
            </a:xfrm>
            <a:prstGeom prst="ellipse">
              <a:avLst/>
            </a:prstGeom>
            <a:solidFill>
              <a:srgbClr val="FFFFFF"/>
            </a:solidFill>
            <a:ln w="19050" cap="flat" cmpd="sng">
              <a:solidFill>
                <a:srgbClr val="02C39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15" name="Google Shape;115;p4" descr="preencoded.png"/>
            <p:cNvPicPr preferRelativeResize="0"/>
            <p:nvPr/>
          </p:nvPicPr>
          <p:blipFill rotWithShape="1">
            <a:blip r:embed="rId4">
              <a:alphaModFix/>
            </a:blip>
            <a:srcRect/>
            <a:stretch/>
          </p:blipFill>
          <p:spPr>
            <a:xfrm>
              <a:off x="6775704" y="2779776"/>
              <a:ext cx="301752" cy="301752"/>
            </a:xfrm>
            <a:prstGeom prst="rect">
              <a:avLst/>
            </a:prstGeom>
            <a:noFill/>
            <a:ln>
              <a:noFill/>
            </a:ln>
          </p:spPr>
        </p:pic>
        <p:sp>
          <p:nvSpPr>
            <p:cNvPr id="116" name="Google Shape;116;p4"/>
            <p:cNvSpPr/>
            <p:nvPr/>
          </p:nvSpPr>
          <p:spPr>
            <a:xfrm>
              <a:off x="7360920" y="2471299"/>
              <a:ext cx="4114800" cy="320039"/>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500"/>
                <a:buFont typeface="Arial"/>
                <a:buNone/>
              </a:pPr>
              <a:r>
                <a:rPr lang="en-IN" sz="1500" b="1">
                  <a:solidFill>
                    <a:srgbClr val="028090"/>
                  </a:solidFill>
                  <a:latin typeface="Arial"/>
                  <a:ea typeface="Arial"/>
                  <a:cs typeface="Arial"/>
                  <a:sym typeface="Arial"/>
                </a:rPr>
                <a:t>Long travel &amp; waiting</a:t>
              </a:r>
              <a:endParaRPr sz="1500">
                <a:solidFill>
                  <a:schemeClr val="dk1"/>
                </a:solidFill>
                <a:latin typeface="Arial"/>
                <a:ea typeface="Arial"/>
                <a:cs typeface="Arial"/>
                <a:sym typeface="Arial"/>
              </a:endParaRPr>
            </a:p>
          </p:txBody>
        </p:sp>
        <p:sp>
          <p:nvSpPr>
            <p:cNvPr id="117" name="Google Shape;117;p4"/>
            <p:cNvSpPr/>
            <p:nvPr/>
          </p:nvSpPr>
          <p:spPr>
            <a:xfrm>
              <a:off x="7360920" y="2773051"/>
              <a:ext cx="4114800" cy="68580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5A6B70"/>
                </a:buClr>
                <a:buSzPts val="1250"/>
                <a:buFont typeface="Arial"/>
                <a:buNone/>
              </a:pPr>
              <a:r>
                <a:rPr lang="en-IN" sz="1250" dirty="0">
                  <a:solidFill>
                    <a:srgbClr val="5A6B70"/>
                  </a:solidFill>
                  <a:latin typeface="Arial"/>
                  <a:ea typeface="Arial"/>
                  <a:cs typeface="Arial"/>
                  <a:sym typeface="Arial"/>
                </a:rPr>
                <a:t>Villagers lose a full day's wages travelling to a hospital and waiting in OPD queues.</a:t>
              </a:r>
              <a:endParaRPr sz="1250" dirty="0">
                <a:solidFill>
                  <a:schemeClr val="dk1"/>
                </a:solidFill>
                <a:latin typeface="Arial"/>
                <a:ea typeface="Arial"/>
                <a:cs typeface="Arial"/>
                <a:sym typeface="Arial"/>
              </a:endParaRPr>
            </a:p>
          </p:txBody>
        </p:sp>
        <p:sp>
          <p:nvSpPr>
            <p:cNvPr id="118" name="Google Shape;118;p4"/>
            <p:cNvSpPr/>
            <p:nvPr/>
          </p:nvSpPr>
          <p:spPr>
            <a:xfrm>
              <a:off x="6675120" y="3849624"/>
              <a:ext cx="502920" cy="502920"/>
            </a:xfrm>
            <a:prstGeom prst="ellipse">
              <a:avLst/>
            </a:prstGeom>
            <a:solidFill>
              <a:srgbClr val="FFFFFF"/>
            </a:solidFill>
            <a:ln w="19050" cap="flat" cmpd="sng">
              <a:solidFill>
                <a:srgbClr val="02C39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19" name="Google Shape;119;p4" descr="preencoded.png"/>
            <p:cNvPicPr preferRelativeResize="0"/>
            <p:nvPr/>
          </p:nvPicPr>
          <p:blipFill rotWithShape="1">
            <a:blip r:embed="rId5">
              <a:alphaModFix/>
            </a:blip>
            <a:srcRect/>
            <a:stretch/>
          </p:blipFill>
          <p:spPr>
            <a:xfrm>
              <a:off x="6775704" y="3950208"/>
              <a:ext cx="301752" cy="301752"/>
            </a:xfrm>
            <a:prstGeom prst="rect">
              <a:avLst/>
            </a:prstGeom>
            <a:noFill/>
            <a:ln>
              <a:noFill/>
            </a:ln>
          </p:spPr>
        </p:pic>
        <p:sp>
          <p:nvSpPr>
            <p:cNvPr id="120" name="Google Shape;120;p4"/>
            <p:cNvSpPr/>
            <p:nvPr/>
          </p:nvSpPr>
          <p:spPr>
            <a:xfrm>
              <a:off x="7360920" y="3666680"/>
              <a:ext cx="4114800" cy="320039"/>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500"/>
                <a:buFont typeface="Arial"/>
                <a:buNone/>
              </a:pPr>
              <a:r>
                <a:rPr lang="en-IN" sz="1500" b="1" dirty="0">
                  <a:solidFill>
                    <a:srgbClr val="028090"/>
                  </a:solidFill>
                  <a:latin typeface="Arial"/>
                  <a:ea typeface="Arial"/>
                  <a:cs typeface="Arial"/>
                  <a:sym typeface="Arial"/>
                </a:rPr>
                <a:t>Crowded OPDs</a:t>
              </a:r>
              <a:endParaRPr sz="1500" dirty="0">
                <a:solidFill>
                  <a:schemeClr val="dk1"/>
                </a:solidFill>
                <a:latin typeface="Arial"/>
                <a:ea typeface="Arial"/>
                <a:cs typeface="Arial"/>
                <a:sym typeface="Arial"/>
              </a:endParaRPr>
            </a:p>
          </p:txBody>
        </p:sp>
        <p:sp>
          <p:nvSpPr>
            <p:cNvPr id="121" name="Google Shape;121;p4"/>
            <p:cNvSpPr/>
            <p:nvPr/>
          </p:nvSpPr>
          <p:spPr>
            <a:xfrm>
              <a:off x="7360920" y="3968433"/>
              <a:ext cx="4114800" cy="68580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5A6B70"/>
                </a:buClr>
                <a:buSzPts val="1250"/>
                <a:buFont typeface="Arial"/>
                <a:buNone/>
              </a:pPr>
              <a:r>
                <a:rPr lang="en-IN" sz="1250" dirty="0">
                  <a:solidFill>
                    <a:srgbClr val="5A6B70"/>
                  </a:solidFill>
                  <a:latin typeface="Arial"/>
                  <a:ea typeface="Arial"/>
                  <a:cs typeface="Arial"/>
                  <a:sym typeface="Arial"/>
                </a:rPr>
                <a:t>Hospitals handle minor coughs and colds while serious patients wait longer.</a:t>
              </a:r>
              <a:endParaRPr sz="1250" dirty="0">
                <a:solidFill>
                  <a:schemeClr val="dk1"/>
                </a:solidFill>
                <a:latin typeface="Arial"/>
                <a:ea typeface="Arial"/>
                <a:cs typeface="Arial"/>
                <a:sym typeface="Arial"/>
              </a:endParaRPr>
            </a:p>
          </p:txBody>
        </p:sp>
        <p:sp>
          <p:nvSpPr>
            <p:cNvPr id="122" name="Google Shape;122;p4"/>
            <p:cNvSpPr/>
            <p:nvPr/>
          </p:nvSpPr>
          <p:spPr>
            <a:xfrm>
              <a:off x="6675120" y="5020056"/>
              <a:ext cx="502920" cy="502920"/>
            </a:xfrm>
            <a:prstGeom prst="ellipse">
              <a:avLst/>
            </a:prstGeom>
            <a:solidFill>
              <a:srgbClr val="FFFFFF"/>
            </a:solidFill>
            <a:ln w="19050" cap="flat" cmpd="sng">
              <a:solidFill>
                <a:srgbClr val="02C39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23" name="Google Shape;123;p4" descr="preencoded.png"/>
            <p:cNvPicPr preferRelativeResize="0"/>
            <p:nvPr/>
          </p:nvPicPr>
          <p:blipFill rotWithShape="1">
            <a:blip r:embed="rId6">
              <a:alphaModFix/>
            </a:blip>
            <a:srcRect/>
            <a:stretch/>
          </p:blipFill>
          <p:spPr>
            <a:xfrm>
              <a:off x="6775704" y="5120640"/>
              <a:ext cx="301752" cy="301752"/>
            </a:xfrm>
            <a:prstGeom prst="rect">
              <a:avLst/>
            </a:prstGeom>
            <a:noFill/>
            <a:ln>
              <a:noFill/>
            </a:ln>
          </p:spPr>
        </p:pic>
        <p:sp>
          <p:nvSpPr>
            <p:cNvPr id="124" name="Google Shape;124;p4"/>
            <p:cNvSpPr/>
            <p:nvPr/>
          </p:nvSpPr>
          <p:spPr>
            <a:xfrm>
              <a:off x="7360920" y="4874537"/>
              <a:ext cx="4114800" cy="320039"/>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500"/>
                <a:buFont typeface="Arial"/>
                <a:buNone/>
              </a:pPr>
              <a:r>
                <a:rPr lang="en-IN" sz="1500" b="1">
                  <a:solidFill>
                    <a:srgbClr val="028090"/>
                  </a:solidFill>
                  <a:latin typeface="Arial"/>
                  <a:ea typeface="Arial"/>
                  <a:cs typeface="Arial"/>
                  <a:sym typeface="Arial"/>
                </a:rPr>
                <a:t>Late detection</a:t>
              </a:r>
              <a:endParaRPr sz="1500">
                <a:solidFill>
                  <a:schemeClr val="dk1"/>
                </a:solidFill>
                <a:latin typeface="Arial"/>
                <a:ea typeface="Arial"/>
                <a:cs typeface="Arial"/>
                <a:sym typeface="Arial"/>
              </a:endParaRPr>
            </a:p>
          </p:txBody>
        </p:sp>
        <p:sp>
          <p:nvSpPr>
            <p:cNvPr id="125" name="Google Shape;125;p4"/>
            <p:cNvSpPr/>
            <p:nvPr/>
          </p:nvSpPr>
          <p:spPr>
            <a:xfrm>
              <a:off x="7360920" y="5176289"/>
              <a:ext cx="4114800" cy="68580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5A6B70"/>
                </a:buClr>
                <a:buSzPts val="1250"/>
                <a:buFont typeface="Arial"/>
                <a:buNone/>
              </a:pPr>
              <a:r>
                <a:rPr lang="en-IN" sz="1250" dirty="0">
                  <a:solidFill>
                    <a:srgbClr val="5A6B70"/>
                  </a:solidFill>
                  <a:latin typeface="Arial"/>
                  <a:ea typeface="Arial"/>
                  <a:cs typeface="Arial"/>
                  <a:sym typeface="Arial"/>
                </a:rPr>
                <a:t>BP, sugar and fever issues are caught late because routine check-ups are hard to access.</a:t>
              </a:r>
              <a:endParaRPr sz="1250" dirty="0">
                <a:solidFill>
                  <a:schemeClr val="dk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a:spLocks noGrp="1"/>
          </p:cNvSpPr>
          <p:nvPr>
            <p:ph type="title"/>
          </p:nvPr>
        </p:nvSpPr>
        <p:spPr>
          <a:xfrm>
            <a:off x="0" y="18255"/>
            <a:ext cx="12192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IN">
                <a:latin typeface="Arial"/>
                <a:ea typeface="Arial"/>
                <a:cs typeface="Arial"/>
                <a:sym typeface="Arial"/>
              </a:rPr>
              <a:t> Proposed Solution / Design &amp; Technology used</a:t>
            </a:r>
            <a:endParaRPr/>
          </a:p>
        </p:txBody>
      </p:sp>
      <p:grpSp>
        <p:nvGrpSpPr>
          <p:cNvPr id="132" name="Google Shape;132;p5"/>
          <p:cNvGrpSpPr/>
          <p:nvPr/>
        </p:nvGrpSpPr>
        <p:grpSpPr>
          <a:xfrm>
            <a:off x="4726641" y="1713699"/>
            <a:ext cx="3178387" cy="5043364"/>
            <a:chOff x="369147" y="1631018"/>
            <a:chExt cx="3178387" cy="5002107"/>
          </a:xfrm>
        </p:grpSpPr>
        <p:sp>
          <p:nvSpPr>
            <p:cNvPr id="133" name="Google Shape;133;p5"/>
            <p:cNvSpPr/>
            <p:nvPr/>
          </p:nvSpPr>
          <p:spPr>
            <a:xfrm>
              <a:off x="369147" y="1631018"/>
              <a:ext cx="3178387" cy="5002107"/>
            </a:xfrm>
            <a:prstGeom prst="roundRect">
              <a:avLst>
                <a:gd name="adj" fmla="val 2400"/>
              </a:avLst>
            </a:prstGeom>
            <a:solidFill>
              <a:srgbClr val="02809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4" name="Google Shape;134;p5"/>
            <p:cNvSpPr/>
            <p:nvPr/>
          </p:nvSpPr>
          <p:spPr>
            <a:xfrm>
              <a:off x="602559" y="1728291"/>
              <a:ext cx="2784107" cy="45688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Arial"/>
                <a:buNone/>
              </a:pPr>
              <a:r>
                <a:rPr lang="en-IN" sz="1800" b="1" dirty="0">
                  <a:solidFill>
                    <a:srgbClr val="FFFFFF"/>
                  </a:solidFill>
                  <a:latin typeface="Arial"/>
                  <a:ea typeface="Arial"/>
                  <a:cs typeface="Arial"/>
                  <a:sym typeface="Arial"/>
                </a:rPr>
                <a:t>What happens in kiosk?</a:t>
              </a:r>
              <a:endParaRPr sz="1800" dirty="0">
                <a:solidFill>
                  <a:schemeClr val="dk1"/>
                </a:solidFill>
                <a:latin typeface="Arial"/>
                <a:ea typeface="Arial"/>
                <a:cs typeface="Arial"/>
                <a:sym typeface="Arial"/>
              </a:endParaRPr>
            </a:p>
          </p:txBody>
        </p:sp>
        <p:pic>
          <p:nvPicPr>
            <p:cNvPr id="135" name="Google Shape;135;p5" descr="preencoded.png"/>
            <p:cNvPicPr preferRelativeResize="0"/>
            <p:nvPr/>
          </p:nvPicPr>
          <p:blipFill rotWithShape="1">
            <a:blip r:embed="rId3">
              <a:alphaModFix/>
            </a:blip>
            <a:srcRect/>
            <a:stretch/>
          </p:blipFill>
          <p:spPr>
            <a:xfrm>
              <a:off x="689187" y="2475992"/>
              <a:ext cx="310896" cy="310896"/>
            </a:xfrm>
            <a:prstGeom prst="rect">
              <a:avLst/>
            </a:prstGeom>
            <a:noFill/>
            <a:ln>
              <a:noFill/>
            </a:ln>
          </p:spPr>
        </p:pic>
        <p:sp>
          <p:nvSpPr>
            <p:cNvPr id="136" name="Google Shape;136;p5"/>
            <p:cNvSpPr/>
            <p:nvPr/>
          </p:nvSpPr>
          <p:spPr>
            <a:xfrm>
              <a:off x="1146388" y="2005584"/>
              <a:ext cx="2240279" cy="1330959"/>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EAF8F6"/>
                </a:buClr>
                <a:buSzPts val="1300"/>
                <a:buFont typeface="Arial"/>
                <a:buNone/>
              </a:pPr>
              <a:r>
                <a:rPr lang="en-IN" sz="1300">
                  <a:solidFill>
                    <a:srgbClr val="EAF8F6"/>
                  </a:solidFill>
                  <a:latin typeface="Arial"/>
                  <a:ea typeface="Arial"/>
                  <a:cs typeface="Arial"/>
                  <a:sym typeface="Arial"/>
                </a:rPr>
                <a:t>Measures non-invasive vitals — temperature, pulse, SpO₂, blood pressure.</a:t>
              </a:r>
              <a:endParaRPr sz="1300">
                <a:solidFill>
                  <a:schemeClr val="dk1"/>
                </a:solidFill>
                <a:latin typeface="Arial"/>
                <a:ea typeface="Arial"/>
                <a:cs typeface="Arial"/>
                <a:sym typeface="Arial"/>
              </a:endParaRPr>
            </a:p>
          </p:txBody>
        </p:sp>
        <p:pic>
          <p:nvPicPr>
            <p:cNvPr id="137" name="Google Shape;137;p5" descr="preencoded.png"/>
            <p:cNvPicPr preferRelativeResize="0"/>
            <p:nvPr/>
          </p:nvPicPr>
          <p:blipFill rotWithShape="1">
            <a:blip r:embed="rId4">
              <a:alphaModFix/>
            </a:blip>
            <a:srcRect/>
            <a:stretch/>
          </p:blipFill>
          <p:spPr>
            <a:xfrm>
              <a:off x="689187" y="3313049"/>
              <a:ext cx="310896" cy="310896"/>
            </a:xfrm>
            <a:prstGeom prst="rect">
              <a:avLst/>
            </a:prstGeom>
            <a:noFill/>
            <a:ln>
              <a:noFill/>
            </a:ln>
          </p:spPr>
        </p:pic>
        <p:sp>
          <p:nvSpPr>
            <p:cNvPr id="138" name="Google Shape;138;p5"/>
            <p:cNvSpPr/>
            <p:nvPr/>
          </p:nvSpPr>
          <p:spPr>
            <a:xfrm>
              <a:off x="1146388" y="2842641"/>
              <a:ext cx="2240279" cy="1330959"/>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EAF8F6"/>
                </a:buClr>
                <a:buSzPts val="1300"/>
                <a:buFont typeface="Arial"/>
                <a:buNone/>
              </a:pPr>
              <a:r>
                <a:rPr lang="en-IN" sz="1300">
                  <a:solidFill>
                    <a:srgbClr val="EAF8F6"/>
                  </a:solidFill>
                  <a:latin typeface="Arial"/>
                  <a:ea typeface="Arial"/>
                  <a:cs typeface="Arial"/>
                  <a:sym typeface="Arial"/>
                </a:rPr>
                <a:t>Talks to the patient in their own language (Kannada, Hindi, etc.) using a voice-based LLM to record symptoms.</a:t>
              </a:r>
              <a:endParaRPr sz="1300">
                <a:solidFill>
                  <a:schemeClr val="dk1"/>
                </a:solidFill>
                <a:latin typeface="Arial"/>
                <a:ea typeface="Arial"/>
                <a:cs typeface="Arial"/>
                <a:sym typeface="Arial"/>
              </a:endParaRPr>
            </a:p>
          </p:txBody>
        </p:sp>
        <p:pic>
          <p:nvPicPr>
            <p:cNvPr id="139" name="Google Shape;139;p5" descr="preencoded.png"/>
            <p:cNvPicPr preferRelativeResize="0"/>
            <p:nvPr/>
          </p:nvPicPr>
          <p:blipFill rotWithShape="1">
            <a:blip r:embed="rId5">
              <a:alphaModFix/>
            </a:blip>
            <a:srcRect/>
            <a:stretch/>
          </p:blipFill>
          <p:spPr>
            <a:xfrm>
              <a:off x="689187" y="4140581"/>
              <a:ext cx="310896" cy="310896"/>
            </a:xfrm>
            <a:prstGeom prst="rect">
              <a:avLst/>
            </a:prstGeom>
            <a:noFill/>
            <a:ln>
              <a:noFill/>
            </a:ln>
          </p:spPr>
        </p:pic>
        <p:sp>
          <p:nvSpPr>
            <p:cNvPr id="140" name="Google Shape;140;p5"/>
            <p:cNvSpPr/>
            <p:nvPr/>
          </p:nvSpPr>
          <p:spPr>
            <a:xfrm>
              <a:off x="1146388" y="3670173"/>
              <a:ext cx="2240279" cy="1330959"/>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EAF8F6"/>
                </a:buClr>
                <a:buSzPts val="1300"/>
                <a:buFont typeface="Arial"/>
                <a:buNone/>
              </a:pPr>
              <a:r>
                <a:rPr lang="en-IN" sz="1300">
                  <a:solidFill>
                    <a:srgbClr val="EAF8F6"/>
                  </a:solidFill>
                </a:rPr>
                <a:t>generate</a:t>
              </a:r>
              <a:r>
                <a:rPr lang="en-IN" sz="1300">
                  <a:solidFill>
                    <a:srgbClr val="EAF8F6"/>
                  </a:solidFill>
                  <a:latin typeface="Arial"/>
                  <a:ea typeface="Arial"/>
                  <a:cs typeface="Arial"/>
                  <a:sym typeface="Arial"/>
                </a:rPr>
                <a:t> an easy health report</a:t>
              </a:r>
              <a:r>
                <a:rPr lang="en-IN" sz="1300">
                  <a:solidFill>
                    <a:srgbClr val="EAF8F6"/>
                  </a:solidFill>
                </a:rPr>
                <a:t> </a:t>
              </a:r>
              <a:r>
                <a:rPr lang="en-IN" sz="1300">
                  <a:solidFill>
                    <a:srgbClr val="EAF8F6"/>
                  </a:solidFill>
                  <a:latin typeface="Arial"/>
                  <a:ea typeface="Arial"/>
                  <a:cs typeface="Arial"/>
                  <a:sym typeface="Arial"/>
                </a:rPr>
                <a:t>with readings and AI analysis.</a:t>
              </a:r>
              <a:endParaRPr sz="1300">
                <a:solidFill>
                  <a:schemeClr val="dk1"/>
                </a:solidFill>
                <a:latin typeface="Arial"/>
                <a:ea typeface="Arial"/>
                <a:cs typeface="Arial"/>
                <a:sym typeface="Arial"/>
              </a:endParaRPr>
            </a:p>
          </p:txBody>
        </p:sp>
        <p:pic>
          <p:nvPicPr>
            <p:cNvPr id="141" name="Google Shape;141;p5" descr="preencoded.png"/>
            <p:cNvPicPr preferRelativeResize="0"/>
            <p:nvPr/>
          </p:nvPicPr>
          <p:blipFill rotWithShape="1">
            <a:blip r:embed="rId6">
              <a:alphaModFix/>
            </a:blip>
            <a:srcRect/>
            <a:stretch/>
          </p:blipFill>
          <p:spPr>
            <a:xfrm>
              <a:off x="689187" y="4890008"/>
              <a:ext cx="310896" cy="310896"/>
            </a:xfrm>
            <a:prstGeom prst="rect">
              <a:avLst/>
            </a:prstGeom>
            <a:noFill/>
            <a:ln>
              <a:noFill/>
            </a:ln>
          </p:spPr>
        </p:pic>
        <p:sp>
          <p:nvSpPr>
            <p:cNvPr id="142" name="Google Shape;142;p5"/>
            <p:cNvSpPr/>
            <p:nvPr/>
          </p:nvSpPr>
          <p:spPr>
            <a:xfrm>
              <a:off x="1146388" y="4419600"/>
              <a:ext cx="2240279" cy="1330959"/>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EAF8F6"/>
                </a:buClr>
                <a:buSzPts val="1300"/>
                <a:buFont typeface="Arial"/>
                <a:buNone/>
              </a:pPr>
              <a:r>
                <a:rPr lang="en-IN" sz="1300">
                  <a:solidFill>
                    <a:srgbClr val="EAF8F6"/>
                  </a:solidFill>
                  <a:latin typeface="Arial"/>
                  <a:ea typeface="Arial"/>
                  <a:cs typeface="Arial"/>
                  <a:sym typeface="Arial"/>
                </a:rPr>
                <a:t>Sends the report to an online doctor for approval before anything is dispensed.</a:t>
              </a:r>
              <a:endParaRPr sz="1300">
                <a:solidFill>
                  <a:schemeClr val="dk1"/>
                </a:solidFill>
                <a:latin typeface="Arial"/>
                <a:ea typeface="Arial"/>
                <a:cs typeface="Arial"/>
                <a:sym typeface="Arial"/>
              </a:endParaRPr>
            </a:p>
          </p:txBody>
        </p:sp>
        <p:pic>
          <p:nvPicPr>
            <p:cNvPr id="143" name="Google Shape;143;p5" descr="preencoded.png"/>
            <p:cNvPicPr preferRelativeResize="0"/>
            <p:nvPr/>
          </p:nvPicPr>
          <p:blipFill rotWithShape="1">
            <a:blip r:embed="rId7">
              <a:alphaModFix/>
            </a:blip>
            <a:srcRect/>
            <a:stretch/>
          </p:blipFill>
          <p:spPr>
            <a:xfrm>
              <a:off x="689187" y="5687060"/>
              <a:ext cx="310896" cy="310896"/>
            </a:xfrm>
            <a:prstGeom prst="rect">
              <a:avLst/>
            </a:prstGeom>
            <a:noFill/>
            <a:ln>
              <a:noFill/>
            </a:ln>
          </p:spPr>
        </p:pic>
        <p:sp>
          <p:nvSpPr>
            <p:cNvPr id="144" name="Google Shape;144;p5"/>
            <p:cNvSpPr/>
            <p:nvPr/>
          </p:nvSpPr>
          <p:spPr>
            <a:xfrm>
              <a:off x="1146388" y="5257292"/>
              <a:ext cx="2240279" cy="1330959"/>
            </a:xfrm>
            <a:prstGeom prst="rect">
              <a:avLst/>
            </a:prstGeom>
            <a:noFill/>
            <a:ln>
              <a:noFill/>
            </a:ln>
          </p:spPr>
          <p:txBody>
            <a:bodyPr spcFirstLastPara="1" wrap="square" lIns="0" tIns="0" rIns="0" bIns="0" anchor="ctr" anchorCtr="0">
              <a:noAutofit/>
            </a:bodyPr>
            <a:lstStyle/>
            <a:p>
              <a:pPr>
                <a:lnSpc>
                  <a:spcPct val="115384"/>
                </a:lnSpc>
                <a:buClr>
                  <a:srgbClr val="EAF8F6"/>
                </a:buClr>
                <a:buSzPts val="1300"/>
              </a:pPr>
              <a:r>
                <a:rPr lang="en-US" sz="1100" dirty="0">
                  <a:solidFill>
                    <a:srgbClr val="EAF8F6"/>
                  </a:solidFill>
                  <a:ea typeface="Calibri" pitchFamily="34" charset="-122"/>
                  <a:cs typeface="Calibri" pitchFamily="34" charset="-120"/>
                </a:rPr>
                <a:t>Dispenses doctor-approved basic medicines like a 'pharmacy ATM', or auto-books a hospital appointment.</a:t>
              </a:r>
              <a:endParaRPr lang="en-US" sz="1100" dirty="0"/>
            </a:p>
            <a:p>
              <a:pPr marL="0" marR="0" lvl="0" indent="0" algn="l" rtl="0">
                <a:lnSpc>
                  <a:spcPct val="115384"/>
                </a:lnSpc>
                <a:spcBef>
                  <a:spcPts val="0"/>
                </a:spcBef>
                <a:spcAft>
                  <a:spcPts val="0"/>
                </a:spcAft>
                <a:buClr>
                  <a:srgbClr val="EAF8F6"/>
                </a:buClr>
                <a:buSzPts val="1300"/>
                <a:buFont typeface="Arial"/>
                <a:buNone/>
              </a:pPr>
              <a:r>
                <a:rPr lang="en-IN" sz="1300" dirty="0">
                  <a:solidFill>
                    <a:srgbClr val="EAF8F6"/>
                  </a:solidFill>
                  <a:latin typeface="Arial"/>
                  <a:ea typeface="Arial"/>
                  <a:cs typeface="Arial"/>
                  <a:sym typeface="Arial"/>
                </a:rPr>
                <a:t> </a:t>
              </a:r>
              <a:endParaRPr sz="1300" dirty="0">
                <a:solidFill>
                  <a:schemeClr val="dk1"/>
                </a:solidFill>
                <a:latin typeface="Arial"/>
                <a:ea typeface="Arial"/>
                <a:cs typeface="Arial"/>
                <a:sym typeface="Arial"/>
              </a:endParaRPr>
            </a:p>
          </p:txBody>
        </p:sp>
      </p:grpSp>
      <p:grpSp>
        <p:nvGrpSpPr>
          <p:cNvPr id="145" name="Google Shape;145;p5"/>
          <p:cNvGrpSpPr/>
          <p:nvPr/>
        </p:nvGrpSpPr>
        <p:grpSpPr>
          <a:xfrm>
            <a:off x="8048625" y="1556485"/>
            <a:ext cx="4135332" cy="5231057"/>
            <a:chOff x="7972425" y="1402078"/>
            <a:chExt cx="4135332" cy="5231057"/>
          </a:xfrm>
        </p:grpSpPr>
        <p:grpSp>
          <p:nvGrpSpPr>
            <p:cNvPr id="146" name="Google Shape;146;p5"/>
            <p:cNvGrpSpPr/>
            <p:nvPr/>
          </p:nvGrpSpPr>
          <p:grpSpPr>
            <a:xfrm>
              <a:off x="7972425" y="1521191"/>
              <a:ext cx="4135332" cy="5111944"/>
              <a:chOff x="5855547" y="1801451"/>
              <a:chExt cx="5394960" cy="4772081"/>
            </a:xfrm>
          </p:grpSpPr>
          <p:sp>
            <p:nvSpPr>
              <p:cNvPr id="147" name="Google Shape;147;p5"/>
              <p:cNvSpPr/>
              <p:nvPr/>
            </p:nvSpPr>
            <p:spPr>
              <a:xfrm>
                <a:off x="5855547" y="1801451"/>
                <a:ext cx="5376334" cy="301752"/>
              </a:xfrm>
              <a:prstGeom prst="roundRect">
                <a:avLst>
                  <a:gd name="adj" fmla="val 5263"/>
                </a:avLst>
              </a:prstGeom>
              <a:solidFill>
                <a:srgbClr val="F2FBF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00">
                  <a:solidFill>
                    <a:schemeClr val="dk1"/>
                  </a:solidFill>
                  <a:latin typeface="Arial"/>
                  <a:ea typeface="Arial"/>
                  <a:cs typeface="Arial"/>
                  <a:sym typeface="Arial"/>
                </a:endParaRPr>
              </a:p>
            </p:txBody>
          </p:sp>
          <p:sp>
            <p:nvSpPr>
              <p:cNvPr id="148" name="Google Shape;148;p5"/>
              <p:cNvSpPr/>
              <p:nvPr/>
            </p:nvSpPr>
            <p:spPr>
              <a:xfrm>
                <a:off x="5855547" y="2184400"/>
                <a:ext cx="2606040" cy="1389888"/>
              </a:xfrm>
              <a:prstGeom prst="roundRect">
                <a:avLst>
                  <a:gd name="adj" fmla="val 5263"/>
                </a:avLst>
              </a:prstGeom>
              <a:solidFill>
                <a:srgbClr val="F2FBF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00">
                  <a:solidFill>
                    <a:schemeClr val="dk1"/>
                  </a:solidFill>
                  <a:latin typeface="Arial"/>
                  <a:ea typeface="Arial"/>
                  <a:cs typeface="Arial"/>
                  <a:sym typeface="Arial"/>
                </a:endParaRPr>
              </a:p>
            </p:txBody>
          </p:sp>
          <p:pic>
            <p:nvPicPr>
              <p:cNvPr id="149" name="Google Shape;149;p5" descr="preencoded.png"/>
              <p:cNvPicPr preferRelativeResize="0"/>
              <p:nvPr/>
            </p:nvPicPr>
            <p:blipFill rotWithShape="1">
              <a:blip r:embed="rId8">
                <a:alphaModFix/>
              </a:blip>
              <a:srcRect/>
              <a:stretch/>
            </p:blipFill>
            <p:spPr>
              <a:xfrm>
                <a:off x="6020139" y="2330704"/>
                <a:ext cx="292608" cy="292608"/>
              </a:xfrm>
              <a:prstGeom prst="rect">
                <a:avLst/>
              </a:prstGeom>
              <a:noFill/>
              <a:ln>
                <a:noFill/>
              </a:ln>
            </p:spPr>
          </p:pic>
          <p:sp>
            <p:nvSpPr>
              <p:cNvPr id="150" name="Google Shape;150;p5"/>
              <p:cNvSpPr/>
              <p:nvPr/>
            </p:nvSpPr>
            <p:spPr>
              <a:xfrm>
                <a:off x="6404187" y="2312416"/>
                <a:ext cx="19202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Arial"/>
                  <a:buNone/>
                </a:pPr>
                <a:r>
                  <a:rPr lang="en-IN" sz="1300" b="1">
                    <a:solidFill>
                      <a:srgbClr val="028090"/>
                    </a:solidFill>
                    <a:latin typeface="Arial"/>
                    <a:ea typeface="Arial"/>
                    <a:cs typeface="Arial"/>
                    <a:sym typeface="Arial"/>
                  </a:rPr>
                  <a:t>IoT sensors</a:t>
                </a:r>
                <a:endParaRPr sz="1300">
                  <a:solidFill>
                    <a:schemeClr val="dk1"/>
                  </a:solidFill>
                  <a:latin typeface="Arial"/>
                  <a:ea typeface="Arial"/>
                  <a:cs typeface="Arial"/>
                  <a:sym typeface="Arial"/>
                </a:endParaRPr>
              </a:p>
            </p:txBody>
          </p:sp>
          <p:sp>
            <p:nvSpPr>
              <p:cNvPr id="151" name="Google Shape;151;p5"/>
              <p:cNvSpPr/>
              <p:nvPr/>
            </p:nvSpPr>
            <p:spPr>
              <a:xfrm>
                <a:off x="6020139" y="2687320"/>
                <a:ext cx="2276856"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B70"/>
                  </a:buClr>
                  <a:buSzPts val="1300"/>
                  <a:buFont typeface="Arial"/>
                  <a:buNone/>
                </a:pPr>
                <a:r>
                  <a:rPr lang="en-IN" sz="1300">
                    <a:solidFill>
                      <a:srgbClr val="5A6B70"/>
                    </a:solidFill>
                    <a:latin typeface="Arial"/>
                    <a:ea typeface="Arial"/>
                    <a:cs typeface="Arial"/>
                    <a:sym typeface="Arial"/>
                  </a:rPr>
                  <a:t>Digital BP monitor, pulse oximeter, IR thermometer</a:t>
                </a:r>
                <a:r>
                  <a:rPr lang="en-IN" sz="1300">
                    <a:solidFill>
                      <a:srgbClr val="5A6B70"/>
                    </a:solidFill>
                  </a:rPr>
                  <a:t> on</a:t>
                </a:r>
                <a:r>
                  <a:rPr lang="en-IN" sz="1300">
                    <a:solidFill>
                      <a:srgbClr val="5A6B70"/>
                    </a:solidFill>
                    <a:latin typeface="Arial"/>
                    <a:ea typeface="Arial"/>
                    <a:cs typeface="Arial"/>
                    <a:sym typeface="Arial"/>
                  </a:rPr>
                  <a:t> Raspberry Pi.</a:t>
                </a:r>
                <a:endParaRPr sz="1300">
                  <a:solidFill>
                    <a:schemeClr val="dk1"/>
                  </a:solidFill>
                  <a:latin typeface="Arial"/>
                  <a:ea typeface="Arial"/>
                  <a:cs typeface="Arial"/>
                  <a:sym typeface="Arial"/>
                </a:endParaRPr>
              </a:p>
            </p:txBody>
          </p:sp>
          <p:sp>
            <p:nvSpPr>
              <p:cNvPr id="152" name="Google Shape;152;p5"/>
              <p:cNvSpPr/>
              <p:nvPr/>
            </p:nvSpPr>
            <p:spPr>
              <a:xfrm>
                <a:off x="8644467" y="2184400"/>
                <a:ext cx="2606040" cy="1389888"/>
              </a:xfrm>
              <a:prstGeom prst="roundRect">
                <a:avLst>
                  <a:gd name="adj" fmla="val 5263"/>
                </a:avLst>
              </a:prstGeom>
              <a:solidFill>
                <a:srgbClr val="F2FBF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00">
                  <a:solidFill>
                    <a:schemeClr val="dk1"/>
                  </a:solidFill>
                  <a:latin typeface="Arial"/>
                  <a:ea typeface="Arial"/>
                  <a:cs typeface="Arial"/>
                  <a:sym typeface="Arial"/>
                </a:endParaRPr>
              </a:p>
            </p:txBody>
          </p:sp>
          <p:pic>
            <p:nvPicPr>
              <p:cNvPr id="153" name="Google Shape;153;p5" descr="preencoded.png"/>
              <p:cNvPicPr preferRelativeResize="0"/>
              <p:nvPr/>
            </p:nvPicPr>
            <p:blipFill rotWithShape="1">
              <a:blip r:embed="rId9">
                <a:alphaModFix/>
              </a:blip>
              <a:srcRect/>
              <a:stretch/>
            </p:blipFill>
            <p:spPr>
              <a:xfrm>
                <a:off x="8809059" y="2330704"/>
                <a:ext cx="292608" cy="292608"/>
              </a:xfrm>
              <a:prstGeom prst="rect">
                <a:avLst/>
              </a:prstGeom>
              <a:noFill/>
              <a:ln>
                <a:noFill/>
              </a:ln>
            </p:spPr>
          </p:pic>
          <p:sp>
            <p:nvSpPr>
              <p:cNvPr id="154" name="Google Shape;154;p5"/>
              <p:cNvSpPr/>
              <p:nvPr/>
            </p:nvSpPr>
            <p:spPr>
              <a:xfrm>
                <a:off x="9193107" y="2312416"/>
                <a:ext cx="19202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Arial"/>
                  <a:buNone/>
                </a:pPr>
                <a:r>
                  <a:rPr lang="en-IN" sz="1300" b="1">
                    <a:solidFill>
                      <a:srgbClr val="028090"/>
                    </a:solidFill>
                    <a:latin typeface="Arial"/>
                    <a:ea typeface="Arial"/>
                    <a:cs typeface="Arial"/>
                    <a:sym typeface="Arial"/>
                  </a:rPr>
                  <a:t>Vernacular LLM</a:t>
                </a:r>
                <a:endParaRPr sz="1300">
                  <a:solidFill>
                    <a:schemeClr val="dk1"/>
                  </a:solidFill>
                  <a:latin typeface="Arial"/>
                  <a:ea typeface="Arial"/>
                  <a:cs typeface="Arial"/>
                  <a:sym typeface="Arial"/>
                </a:endParaRPr>
              </a:p>
            </p:txBody>
          </p:sp>
          <p:sp>
            <p:nvSpPr>
              <p:cNvPr id="155" name="Google Shape;155;p5"/>
              <p:cNvSpPr/>
              <p:nvPr/>
            </p:nvSpPr>
            <p:spPr>
              <a:xfrm>
                <a:off x="8809059" y="2687320"/>
                <a:ext cx="2276856"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B70"/>
                  </a:buClr>
                  <a:buSzPts val="1300"/>
                  <a:buFont typeface="Arial"/>
                  <a:buNone/>
                </a:pPr>
                <a:r>
                  <a:rPr lang="en-IN" sz="1300">
                    <a:solidFill>
                      <a:srgbClr val="5A6B70"/>
                    </a:solidFill>
                    <a:latin typeface="Arial"/>
                    <a:ea typeface="Arial"/>
                    <a:cs typeface="Arial"/>
                    <a:sym typeface="Arial"/>
                  </a:rPr>
                  <a:t>Speech-to-text + LLM chatbot fine-tuned for local languages to capture symptoms.</a:t>
                </a:r>
                <a:endParaRPr sz="1300">
                  <a:solidFill>
                    <a:schemeClr val="dk1"/>
                  </a:solidFill>
                  <a:latin typeface="Arial"/>
                  <a:ea typeface="Arial"/>
                  <a:cs typeface="Arial"/>
                  <a:sym typeface="Arial"/>
                </a:endParaRPr>
              </a:p>
            </p:txBody>
          </p:sp>
          <p:sp>
            <p:nvSpPr>
              <p:cNvPr id="156" name="Google Shape;156;p5"/>
              <p:cNvSpPr/>
              <p:nvPr/>
            </p:nvSpPr>
            <p:spPr>
              <a:xfrm>
                <a:off x="5855547" y="3684016"/>
                <a:ext cx="2606040" cy="1389888"/>
              </a:xfrm>
              <a:prstGeom prst="roundRect">
                <a:avLst>
                  <a:gd name="adj" fmla="val 5263"/>
                </a:avLst>
              </a:prstGeom>
              <a:solidFill>
                <a:srgbClr val="F2FBF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00">
                  <a:solidFill>
                    <a:schemeClr val="dk1"/>
                  </a:solidFill>
                  <a:latin typeface="Arial"/>
                  <a:ea typeface="Arial"/>
                  <a:cs typeface="Arial"/>
                  <a:sym typeface="Arial"/>
                </a:endParaRPr>
              </a:p>
            </p:txBody>
          </p:sp>
          <p:pic>
            <p:nvPicPr>
              <p:cNvPr id="157" name="Google Shape;157;p5" descr="preencoded.png"/>
              <p:cNvPicPr preferRelativeResize="0"/>
              <p:nvPr/>
            </p:nvPicPr>
            <p:blipFill rotWithShape="1">
              <a:blip r:embed="rId10">
                <a:alphaModFix/>
              </a:blip>
              <a:srcRect/>
              <a:stretch/>
            </p:blipFill>
            <p:spPr>
              <a:xfrm>
                <a:off x="6020139" y="3830320"/>
                <a:ext cx="292608" cy="292608"/>
              </a:xfrm>
              <a:prstGeom prst="rect">
                <a:avLst/>
              </a:prstGeom>
              <a:solidFill>
                <a:srgbClr val="028090"/>
              </a:solidFill>
              <a:ln w="9525" cap="flat" cmpd="sng">
                <a:solidFill>
                  <a:schemeClr val="accent1"/>
                </a:solidFill>
                <a:prstDash val="solid"/>
                <a:round/>
                <a:headEnd type="none" w="sm" len="sm"/>
                <a:tailEnd type="none" w="sm" len="sm"/>
              </a:ln>
            </p:spPr>
          </p:pic>
          <p:sp>
            <p:nvSpPr>
              <p:cNvPr id="158" name="Google Shape;158;p5"/>
              <p:cNvSpPr/>
              <p:nvPr/>
            </p:nvSpPr>
            <p:spPr>
              <a:xfrm>
                <a:off x="6404187" y="3812032"/>
                <a:ext cx="19202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Arial"/>
                  <a:buNone/>
                </a:pPr>
                <a:r>
                  <a:rPr lang="en-IN" sz="1300" b="1">
                    <a:solidFill>
                      <a:srgbClr val="028090"/>
                    </a:solidFill>
                    <a:latin typeface="Arial"/>
                    <a:ea typeface="Arial"/>
                    <a:cs typeface="Arial"/>
                    <a:sym typeface="Arial"/>
                  </a:rPr>
                  <a:t>AI analysis model</a:t>
                </a:r>
                <a:endParaRPr sz="1300">
                  <a:solidFill>
                    <a:schemeClr val="dk1"/>
                  </a:solidFill>
                  <a:latin typeface="Arial"/>
                  <a:ea typeface="Arial"/>
                  <a:cs typeface="Arial"/>
                  <a:sym typeface="Arial"/>
                </a:endParaRPr>
              </a:p>
            </p:txBody>
          </p:sp>
          <p:sp>
            <p:nvSpPr>
              <p:cNvPr id="159" name="Google Shape;159;p5"/>
              <p:cNvSpPr/>
              <p:nvPr/>
            </p:nvSpPr>
            <p:spPr>
              <a:xfrm>
                <a:off x="6020139" y="4186936"/>
                <a:ext cx="2276856"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B70"/>
                  </a:buClr>
                  <a:buSzPts val="1300"/>
                  <a:buFont typeface="Arial"/>
                  <a:buNone/>
                </a:pPr>
                <a:r>
                  <a:rPr lang="en-IN" sz="1300">
                    <a:solidFill>
                      <a:srgbClr val="5A6B70"/>
                    </a:solidFill>
                    <a:latin typeface="Arial"/>
                    <a:ea typeface="Arial"/>
                    <a:cs typeface="Arial"/>
                    <a:sym typeface="Arial"/>
                  </a:rPr>
                  <a:t>ML model compares vitals + symptoms against normal ranges to draft the report and </a:t>
                </a:r>
                <a:r>
                  <a:rPr lang="en-IN" sz="1300">
                    <a:solidFill>
                      <a:srgbClr val="5A6B70"/>
                    </a:solidFill>
                  </a:rPr>
                  <a:t>diagnose the disease</a:t>
                </a:r>
                <a:r>
                  <a:rPr lang="en-IN" sz="1300">
                    <a:solidFill>
                      <a:srgbClr val="5A6B70"/>
                    </a:solidFill>
                    <a:latin typeface="Arial"/>
                    <a:ea typeface="Arial"/>
                    <a:cs typeface="Arial"/>
                    <a:sym typeface="Arial"/>
                  </a:rPr>
                  <a:t>.</a:t>
                </a:r>
                <a:endParaRPr sz="1300">
                  <a:solidFill>
                    <a:schemeClr val="dk1"/>
                  </a:solidFill>
                  <a:latin typeface="Arial"/>
                  <a:ea typeface="Arial"/>
                  <a:cs typeface="Arial"/>
                  <a:sym typeface="Arial"/>
                </a:endParaRPr>
              </a:p>
            </p:txBody>
          </p:sp>
          <p:sp>
            <p:nvSpPr>
              <p:cNvPr id="160" name="Google Shape;160;p5"/>
              <p:cNvSpPr/>
              <p:nvPr/>
            </p:nvSpPr>
            <p:spPr>
              <a:xfrm>
                <a:off x="8644467" y="3684016"/>
                <a:ext cx="2606040" cy="1389888"/>
              </a:xfrm>
              <a:prstGeom prst="roundRect">
                <a:avLst>
                  <a:gd name="adj" fmla="val 5263"/>
                </a:avLst>
              </a:prstGeom>
              <a:solidFill>
                <a:srgbClr val="F2FBF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00">
                  <a:solidFill>
                    <a:schemeClr val="dk1"/>
                  </a:solidFill>
                  <a:latin typeface="Arial"/>
                  <a:ea typeface="Arial"/>
                  <a:cs typeface="Arial"/>
                  <a:sym typeface="Arial"/>
                </a:endParaRPr>
              </a:p>
            </p:txBody>
          </p:sp>
          <p:pic>
            <p:nvPicPr>
              <p:cNvPr id="161" name="Google Shape;161;p5" descr="preencoded.png"/>
              <p:cNvPicPr preferRelativeResize="0"/>
              <p:nvPr/>
            </p:nvPicPr>
            <p:blipFill rotWithShape="1">
              <a:blip r:embed="rId11">
                <a:alphaModFix/>
              </a:blip>
              <a:srcRect/>
              <a:stretch/>
            </p:blipFill>
            <p:spPr>
              <a:xfrm>
                <a:off x="8809059" y="3830320"/>
                <a:ext cx="292608" cy="292608"/>
              </a:xfrm>
              <a:prstGeom prst="rect">
                <a:avLst/>
              </a:prstGeom>
              <a:noFill/>
              <a:ln>
                <a:noFill/>
              </a:ln>
            </p:spPr>
          </p:pic>
          <p:sp>
            <p:nvSpPr>
              <p:cNvPr id="162" name="Google Shape;162;p5"/>
              <p:cNvSpPr/>
              <p:nvPr/>
            </p:nvSpPr>
            <p:spPr>
              <a:xfrm>
                <a:off x="9193107" y="3812032"/>
                <a:ext cx="19202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Arial"/>
                  <a:buNone/>
                </a:pPr>
                <a:r>
                  <a:rPr lang="en-IN" sz="1300" b="1">
                    <a:solidFill>
                      <a:srgbClr val="028090"/>
                    </a:solidFill>
                    <a:latin typeface="Arial"/>
                    <a:ea typeface="Arial"/>
                    <a:cs typeface="Arial"/>
                    <a:sym typeface="Arial"/>
                  </a:rPr>
                  <a:t>Cloud + telemedicine</a:t>
                </a:r>
                <a:endParaRPr sz="1300">
                  <a:solidFill>
                    <a:schemeClr val="dk1"/>
                  </a:solidFill>
                  <a:latin typeface="Arial"/>
                  <a:ea typeface="Arial"/>
                  <a:cs typeface="Arial"/>
                  <a:sym typeface="Arial"/>
                </a:endParaRPr>
              </a:p>
            </p:txBody>
          </p:sp>
          <p:sp>
            <p:nvSpPr>
              <p:cNvPr id="163" name="Google Shape;163;p5"/>
              <p:cNvSpPr/>
              <p:nvPr/>
            </p:nvSpPr>
            <p:spPr>
              <a:xfrm>
                <a:off x="8809059" y="4186936"/>
                <a:ext cx="2276856"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B70"/>
                  </a:buClr>
                  <a:buSzPts val="1300"/>
                  <a:buFont typeface="Arial"/>
                  <a:buNone/>
                </a:pPr>
                <a:r>
                  <a:rPr lang="en-IN" sz="1300">
                    <a:solidFill>
                      <a:srgbClr val="5A6B70"/>
                    </a:solidFill>
                    <a:latin typeface="Arial"/>
                    <a:ea typeface="Arial"/>
                    <a:cs typeface="Arial"/>
                    <a:sym typeface="Arial"/>
                  </a:rPr>
                  <a:t>Secure cloud stores records; doctor reviews via web dashboard or video call.</a:t>
                </a:r>
                <a:endParaRPr sz="1300">
                  <a:solidFill>
                    <a:schemeClr val="dk1"/>
                  </a:solidFill>
                  <a:latin typeface="Arial"/>
                  <a:ea typeface="Arial"/>
                  <a:cs typeface="Arial"/>
                  <a:sym typeface="Arial"/>
                </a:endParaRPr>
              </a:p>
            </p:txBody>
          </p:sp>
          <p:sp>
            <p:nvSpPr>
              <p:cNvPr id="164" name="Google Shape;164;p5"/>
              <p:cNvSpPr/>
              <p:nvPr/>
            </p:nvSpPr>
            <p:spPr>
              <a:xfrm>
                <a:off x="5934444" y="5183632"/>
                <a:ext cx="2606100" cy="1389900"/>
              </a:xfrm>
              <a:prstGeom prst="roundRect">
                <a:avLst>
                  <a:gd name="adj" fmla="val 5263"/>
                </a:avLst>
              </a:prstGeom>
              <a:solidFill>
                <a:srgbClr val="F2FBF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00">
                  <a:solidFill>
                    <a:schemeClr val="dk1"/>
                  </a:solidFill>
                  <a:latin typeface="Arial"/>
                  <a:ea typeface="Arial"/>
                  <a:cs typeface="Arial"/>
                  <a:sym typeface="Arial"/>
                </a:endParaRPr>
              </a:p>
            </p:txBody>
          </p:sp>
          <p:pic>
            <p:nvPicPr>
              <p:cNvPr id="165" name="Google Shape;165;p5" descr="preencoded.png"/>
              <p:cNvPicPr preferRelativeResize="0"/>
              <p:nvPr/>
            </p:nvPicPr>
            <p:blipFill rotWithShape="1">
              <a:blip r:embed="rId12">
                <a:alphaModFix/>
              </a:blip>
              <a:srcRect/>
              <a:stretch/>
            </p:blipFill>
            <p:spPr>
              <a:xfrm>
                <a:off x="6059588" y="5329936"/>
                <a:ext cx="292608" cy="292608"/>
              </a:xfrm>
              <a:prstGeom prst="rect">
                <a:avLst/>
              </a:prstGeom>
              <a:noFill/>
              <a:ln>
                <a:noFill/>
              </a:ln>
            </p:spPr>
          </p:pic>
          <p:sp>
            <p:nvSpPr>
              <p:cNvPr id="166" name="Google Shape;166;p5"/>
              <p:cNvSpPr/>
              <p:nvPr/>
            </p:nvSpPr>
            <p:spPr>
              <a:xfrm>
                <a:off x="6463360" y="5311648"/>
                <a:ext cx="19203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Arial"/>
                  <a:buNone/>
                </a:pPr>
                <a:r>
                  <a:rPr lang="en-IN" sz="1300" b="1">
                    <a:solidFill>
                      <a:srgbClr val="028090"/>
                    </a:solidFill>
                    <a:latin typeface="Arial"/>
                    <a:ea typeface="Arial"/>
                    <a:cs typeface="Arial"/>
                    <a:sym typeface="Arial"/>
                  </a:rPr>
                  <a:t>Printer</a:t>
                </a:r>
                <a:endParaRPr sz="1300">
                  <a:solidFill>
                    <a:schemeClr val="dk1"/>
                  </a:solidFill>
                  <a:latin typeface="Arial"/>
                  <a:ea typeface="Arial"/>
                  <a:cs typeface="Arial"/>
                  <a:sym typeface="Arial"/>
                </a:endParaRPr>
              </a:p>
            </p:txBody>
          </p:sp>
          <p:sp>
            <p:nvSpPr>
              <p:cNvPr id="167" name="Google Shape;167;p5"/>
              <p:cNvSpPr/>
              <p:nvPr/>
            </p:nvSpPr>
            <p:spPr>
              <a:xfrm>
                <a:off x="6099036" y="5686552"/>
                <a:ext cx="2277000" cy="822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B70"/>
                  </a:buClr>
                  <a:buSzPts val="1300"/>
                  <a:buFont typeface="Arial"/>
                  <a:buNone/>
                </a:pPr>
                <a:r>
                  <a:rPr lang="en-IN" sz="1300">
                    <a:solidFill>
                      <a:srgbClr val="5A6B70"/>
                    </a:solidFill>
                    <a:latin typeface="Arial"/>
                    <a:ea typeface="Arial"/>
                    <a:cs typeface="Arial"/>
                    <a:sym typeface="Arial"/>
                  </a:rPr>
                  <a:t>ATM-style slip printer for the patient's </a:t>
                </a:r>
                <a:r>
                  <a:rPr lang="en-IN" sz="1300">
                    <a:solidFill>
                      <a:srgbClr val="5A6B70"/>
                    </a:solidFill>
                  </a:rPr>
                  <a:t>drugstore referral.</a:t>
                </a:r>
                <a:endParaRPr sz="1300">
                  <a:solidFill>
                    <a:schemeClr val="dk1"/>
                  </a:solidFill>
                  <a:latin typeface="Arial"/>
                  <a:ea typeface="Arial"/>
                  <a:cs typeface="Arial"/>
                  <a:sym typeface="Arial"/>
                </a:endParaRPr>
              </a:p>
            </p:txBody>
          </p:sp>
        </p:grpSp>
        <p:sp>
          <p:nvSpPr>
            <p:cNvPr id="168" name="Google Shape;168;p5"/>
            <p:cNvSpPr/>
            <p:nvPr/>
          </p:nvSpPr>
          <p:spPr>
            <a:xfrm>
              <a:off x="8006369" y="1402078"/>
              <a:ext cx="3996253" cy="543819"/>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B3742"/>
                </a:buClr>
                <a:buSzPts val="1800"/>
                <a:buFont typeface="Arial"/>
                <a:buNone/>
              </a:pPr>
              <a:r>
                <a:rPr lang="en-IN" sz="1800" b="1">
                  <a:solidFill>
                    <a:srgbClr val="0B3742"/>
                  </a:solidFill>
                  <a:latin typeface="Arial"/>
                  <a:ea typeface="Arial"/>
                  <a:cs typeface="Arial"/>
                  <a:sym typeface="Arial"/>
                </a:rPr>
                <a:t>What technologies are used?</a:t>
              </a:r>
              <a:endParaRPr sz="1800">
                <a:solidFill>
                  <a:schemeClr val="dk1"/>
                </a:solidFill>
                <a:latin typeface="Arial"/>
                <a:ea typeface="Arial"/>
                <a:cs typeface="Arial"/>
                <a:sym typeface="Arial"/>
              </a:endParaRPr>
            </a:p>
          </p:txBody>
        </p:sp>
      </p:grpSp>
      <p:sp>
        <p:nvSpPr>
          <p:cNvPr id="169" name="Google Shape;169;p5"/>
          <p:cNvSpPr txBox="1"/>
          <p:nvPr/>
        </p:nvSpPr>
        <p:spPr>
          <a:xfrm>
            <a:off x="91599" y="1680300"/>
            <a:ext cx="4635041" cy="52629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dirty="0">
                <a:solidFill>
                  <a:schemeClr val="dk1"/>
                </a:solidFill>
                <a:latin typeface="Arial"/>
                <a:ea typeface="Arial"/>
                <a:cs typeface="Arial"/>
                <a:sym typeface="Arial"/>
              </a:rPr>
              <a:t>A self-service/community-assisted kiosk placed in villages or clusters of approximately 50 households.</a:t>
            </a:r>
            <a:endParaRPr dirty="0"/>
          </a:p>
          <a:p>
            <a:pPr marL="285750" marR="0" lvl="0" indent="-279400" algn="l" rtl="0">
              <a:spcBef>
                <a:spcPts val="0"/>
              </a:spcBef>
              <a:spcAft>
                <a:spcPts val="0"/>
              </a:spcAft>
              <a:buClr>
                <a:schemeClr val="dk1"/>
              </a:buClr>
              <a:buSzPts val="1300"/>
              <a:buFont typeface="Arial"/>
              <a:buChar char="•"/>
            </a:pPr>
            <a:r>
              <a:rPr lang="en-IN" b="1" dirty="0">
                <a:solidFill>
                  <a:schemeClr val="dk1"/>
                </a:solidFill>
                <a:latin typeface="Arial"/>
                <a:ea typeface="Arial"/>
                <a:cs typeface="Arial"/>
                <a:sym typeface="Arial"/>
              </a:rPr>
              <a:t>Patient Interaction. </a:t>
            </a:r>
            <a:r>
              <a:rPr lang="en-IN" dirty="0">
                <a:solidFill>
                  <a:schemeClr val="dk1"/>
                </a:solidFill>
                <a:latin typeface="Arial"/>
                <a:ea typeface="Arial"/>
                <a:cs typeface="Arial"/>
                <a:sym typeface="Arial"/>
              </a:rPr>
              <a:t>A conversational interface communicates with the patient in a </a:t>
            </a:r>
            <a:r>
              <a:rPr lang="en-IN" b="1" dirty="0">
                <a:solidFill>
                  <a:schemeClr val="dk1"/>
                </a:solidFill>
                <a:latin typeface="Arial"/>
                <a:ea typeface="Arial"/>
                <a:cs typeface="Arial"/>
                <a:sym typeface="Arial"/>
              </a:rPr>
              <a:t>local/vernacular language</a:t>
            </a:r>
            <a:r>
              <a:rPr lang="en-IN" dirty="0">
                <a:solidFill>
                  <a:schemeClr val="dk1"/>
                </a:solidFill>
                <a:latin typeface="Arial"/>
                <a:ea typeface="Arial"/>
                <a:cs typeface="Arial"/>
                <a:sym typeface="Arial"/>
              </a:rPr>
              <a:t>, collecting basic symptoms and health information.</a:t>
            </a:r>
            <a:endParaRPr dirty="0"/>
          </a:p>
          <a:p>
            <a:pPr marL="285750" marR="0" lvl="0" indent="-279400" algn="l" rtl="0">
              <a:spcBef>
                <a:spcPts val="0"/>
              </a:spcBef>
              <a:spcAft>
                <a:spcPts val="0"/>
              </a:spcAft>
              <a:buClr>
                <a:schemeClr val="dk1"/>
              </a:buClr>
              <a:buSzPts val="1300"/>
              <a:buFont typeface="Arial"/>
              <a:buChar char="•"/>
            </a:pPr>
            <a:r>
              <a:rPr lang="en-IN" b="1" dirty="0">
                <a:solidFill>
                  <a:schemeClr val="dk1"/>
                </a:solidFill>
                <a:latin typeface="Arial"/>
                <a:ea typeface="Arial"/>
                <a:cs typeface="Arial"/>
                <a:sym typeface="Arial"/>
              </a:rPr>
              <a:t>Non-Invasive Health Screening. </a:t>
            </a:r>
            <a:r>
              <a:rPr lang="en-IN" dirty="0">
                <a:solidFill>
                  <a:schemeClr val="dk1"/>
                </a:solidFill>
                <a:latin typeface="Arial"/>
                <a:ea typeface="Arial"/>
                <a:cs typeface="Arial"/>
                <a:sym typeface="Arial"/>
              </a:rPr>
              <a:t>Sensors capture basic parameters such as:</a:t>
            </a:r>
            <a:r>
              <a:rPr lang="en-IN" dirty="0">
                <a:solidFill>
                  <a:schemeClr val="dk1"/>
                </a:solidFill>
              </a:rPr>
              <a:t> body temperature, blood </a:t>
            </a:r>
            <a:r>
              <a:rPr lang="en-IN" dirty="0" err="1">
                <a:solidFill>
                  <a:schemeClr val="dk1"/>
                </a:solidFill>
              </a:rPr>
              <a:t>pressure,heart</a:t>
            </a:r>
            <a:r>
              <a:rPr lang="en-IN" dirty="0">
                <a:solidFill>
                  <a:schemeClr val="dk1"/>
                </a:solidFill>
              </a:rPr>
              <a:t> rate. </a:t>
            </a:r>
            <a:endParaRPr dirty="0">
              <a:solidFill>
                <a:schemeClr val="dk1"/>
              </a:solidFill>
            </a:endParaRPr>
          </a:p>
          <a:p>
            <a:pPr marL="285750" marR="0" lvl="0" indent="-279400" algn="l" rtl="0">
              <a:spcBef>
                <a:spcPts val="0"/>
              </a:spcBef>
              <a:spcAft>
                <a:spcPts val="0"/>
              </a:spcAft>
              <a:buClr>
                <a:schemeClr val="dk1"/>
              </a:buClr>
              <a:buSzPts val="1300"/>
              <a:buFont typeface="Arial"/>
              <a:buChar char="•"/>
            </a:pPr>
            <a:r>
              <a:rPr lang="en-IN" b="1" dirty="0">
                <a:solidFill>
                  <a:schemeClr val="dk1"/>
                </a:solidFill>
                <a:latin typeface="Arial"/>
                <a:ea typeface="Arial"/>
                <a:cs typeface="Arial"/>
                <a:sym typeface="Arial"/>
              </a:rPr>
              <a:t>AI-Assisted Preliminary Report. </a:t>
            </a:r>
            <a:r>
              <a:rPr lang="en-IN" dirty="0">
                <a:solidFill>
                  <a:schemeClr val="dk1"/>
                </a:solidFill>
                <a:latin typeface="Arial"/>
                <a:ea typeface="Arial"/>
                <a:cs typeface="Arial"/>
                <a:sym typeface="Arial"/>
              </a:rPr>
              <a:t>Software combines sensor readings with patient-provided information and generates a </a:t>
            </a:r>
            <a:r>
              <a:rPr lang="en-IN" b="1" dirty="0">
                <a:solidFill>
                  <a:schemeClr val="dk1"/>
                </a:solidFill>
                <a:latin typeface="Arial"/>
                <a:ea typeface="Arial"/>
                <a:cs typeface="Arial"/>
                <a:sym typeface="Arial"/>
              </a:rPr>
              <a:t>simple preliminary health summary</a:t>
            </a:r>
            <a:r>
              <a:rPr lang="en-IN" dirty="0">
                <a:solidFill>
                  <a:schemeClr val="dk1"/>
                </a:solidFill>
                <a:latin typeface="Arial"/>
                <a:ea typeface="Arial"/>
                <a:cs typeface="Arial"/>
                <a:sym typeface="Arial"/>
              </a:rPr>
              <a:t>. Additionally</a:t>
            </a:r>
            <a:r>
              <a:rPr lang="en-IN" dirty="0">
                <a:solidFill>
                  <a:schemeClr val="dk1"/>
                </a:solidFill>
              </a:rPr>
              <a:t>, t</a:t>
            </a:r>
            <a:r>
              <a:rPr lang="en-IN" dirty="0">
                <a:solidFill>
                  <a:schemeClr val="dk1"/>
                </a:solidFill>
                <a:latin typeface="Arial"/>
                <a:ea typeface="Arial"/>
                <a:cs typeface="Arial"/>
                <a:sym typeface="Arial"/>
              </a:rPr>
              <a:t>his summary will</a:t>
            </a:r>
            <a:r>
              <a:rPr lang="en-IN" dirty="0">
                <a:solidFill>
                  <a:schemeClr val="dk1"/>
                </a:solidFill>
              </a:rPr>
              <a:t> contain the AI’s diagnosis of the disease and possible medications the user can receive.</a:t>
            </a:r>
            <a:endParaRPr dirty="0"/>
          </a:p>
          <a:p>
            <a:pPr marL="285750" marR="0" lvl="0" indent="-279400" algn="l" rtl="0">
              <a:spcBef>
                <a:spcPts val="0"/>
              </a:spcBef>
              <a:spcAft>
                <a:spcPts val="0"/>
              </a:spcAft>
              <a:buClr>
                <a:schemeClr val="dk1"/>
              </a:buClr>
              <a:buSzPts val="1300"/>
              <a:buFont typeface="Arial"/>
              <a:buChar char="•"/>
            </a:pPr>
            <a:r>
              <a:rPr lang="en-IN" b="1" dirty="0">
                <a:solidFill>
                  <a:schemeClr val="dk1"/>
                </a:solidFill>
                <a:latin typeface="Arial"/>
                <a:ea typeface="Arial"/>
                <a:cs typeface="Arial"/>
                <a:sym typeface="Arial"/>
              </a:rPr>
              <a:t>Doctor Validation. </a:t>
            </a:r>
            <a:r>
              <a:rPr lang="en-IN" dirty="0">
                <a:solidFill>
                  <a:schemeClr val="dk1"/>
                </a:solidFill>
                <a:latin typeface="Arial"/>
                <a:ea typeface="Arial"/>
                <a:cs typeface="Arial"/>
                <a:sym typeface="Arial"/>
              </a:rPr>
              <a:t>The report is electronically sent to a qualified doctor. </a:t>
            </a:r>
            <a:r>
              <a:rPr lang="en-IN" b="1" dirty="0">
                <a:solidFill>
                  <a:schemeClr val="dk1"/>
                </a:solidFill>
                <a:latin typeface="Arial"/>
                <a:ea typeface="Arial"/>
                <a:cs typeface="Arial"/>
                <a:sym typeface="Arial"/>
              </a:rPr>
              <a:t>The doctor—not the AI—makes the final medical decision.</a:t>
            </a:r>
            <a:endParaRPr dirty="0">
              <a:solidFill>
                <a:schemeClr val="dk1"/>
              </a:solidFill>
              <a:latin typeface="Arial"/>
              <a:ea typeface="Arial"/>
              <a:cs typeface="Arial"/>
              <a:sym typeface="Arial"/>
            </a:endParaRPr>
          </a:p>
          <a:p>
            <a:pPr marL="285750" indent="-285750">
              <a:buFont typeface="Arial" panose="020B0604020202020204" pitchFamily="34" charset="0"/>
              <a:buChar char="•"/>
            </a:pPr>
            <a:r>
              <a:rPr lang="en-IN" b="1" dirty="0">
                <a:solidFill>
                  <a:schemeClr val="dk1"/>
                </a:solidFill>
                <a:latin typeface="Arial"/>
                <a:ea typeface="Arial"/>
                <a:cs typeface="Arial"/>
                <a:sym typeface="Arial"/>
              </a:rPr>
              <a:t>Closure at the Kiosk</a:t>
            </a:r>
            <a:endParaRPr lang="en-IN" dirty="0"/>
          </a:p>
          <a:p>
            <a:pPr marL="742950" lvl="1" indent="-285750">
              <a:buFont typeface="Arial" panose="020B0604020202020204" pitchFamily="34" charset="0"/>
              <a:buChar char="•"/>
            </a:pPr>
            <a:r>
              <a:rPr lang="en-IN" dirty="0"/>
              <a:t>After doctor approval: Approved prescription → authorised medicines is dispensed or referral is printed.</a:t>
            </a:r>
          </a:p>
          <a:p>
            <a:pPr marL="742950" marR="0" lvl="1" indent="-279400" algn="l" rtl="0">
              <a:spcBef>
                <a:spcPts val="0"/>
              </a:spcBef>
              <a:spcAft>
                <a:spcPts val="0"/>
              </a:spcAft>
              <a:buClr>
                <a:schemeClr val="dk1"/>
              </a:buClr>
              <a:buSzPts val="1300"/>
              <a:buFont typeface="Arial"/>
              <a:buChar char="•"/>
            </a:pPr>
            <a:r>
              <a:rPr lang="en-IN" b="0" i="0" u="none" strike="noStrike" cap="none" dirty="0">
                <a:solidFill>
                  <a:schemeClr val="dk1"/>
                </a:solidFill>
                <a:latin typeface="Arial"/>
                <a:ea typeface="Arial"/>
                <a:cs typeface="Arial"/>
                <a:sym typeface="Arial"/>
              </a:rPr>
              <a:t>Further examination required → hospital appointment is boo</a:t>
            </a:r>
            <a:r>
              <a:rPr lang="en-IN" dirty="0">
                <a:solidFill>
                  <a:schemeClr val="dk1"/>
                </a:solidFill>
              </a:rPr>
              <a:t>ked.</a:t>
            </a:r>
            <a:r>
              <a:rPr lang="en-IN" b="0" i="0" u="none" strike="noStrike" cap="none" dirty="0">
                <a:solidFill>
                  <a:schemeClr val="dk1"/>
                </a:solidFill>
                <a:latin typeface="Arial"/>
                <a:ea typeface="Arial"/>
                <a:cs typeface="Arial"/>
                <a:sym typeface="Arial"/>
              </a:rPr>
              <a:t> </a:t>
            </a:r>
            <a:endParaRPr dirty="0"/>
          </a:p>
        </p:txBody>
      </p:sp>
      <p:sp>
        <p:nvSpPr>
          <p:cNvPr id="170" name="Google Shape;170;p5"/>
          <p:cNvSpPr txBox="1"/>
          <p:nvPr/>
        </p:nvSpPr>
        <p:spPr>
          <a:xfrm>
            <a:off x="189378" y="1105769"/>
            <a:ext cx="11129931"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800" b="1" dirty="0">
                <a:solidFill>
                  <a:srgbClr val="028090"/>
                </a:solidFill>
                <a:latin typeface="Arial"/>
                <a:ea typeface="Arial"/>
                <a:cs typeface="Arial"/>
                <a:sym typeface="Arial"/>
              </a:rPr>
              <a:t>Arogya Setu</a:t>
            </a:r>
            <a:r>
              <a:rPr lang="en-IN" sz="2400" b="1" dirty="0">
                <a:solidFill>
                  <a:schemeClr val="dk1"/>
                </a:solidFill>
                <a:latin typeface="Arial"/>
                <a:ea typeface="Arial"/>
                <a:cs typeface="Arial"/>
                <a:sym typeface="Arial"/>
              </a:rPr>
              <a:t>. </a:t>
            </a:r>
            <a:r>
              <a:rPr lang="en-IN" sz="2000" dirty="0">
                <a:solidFill>
                  <a:schemeClr val="dk1"/>
                </a:solidFill>
                <a:latin typeface="Arial"/>
                <a:ea typeface="Arial"/>
                <a:cs typeface="Arial"/>
                <a:sym typeface="Arial"/>
              </a:rPr>
              <a:t>A Doctor-Connected AI Health Kiosk</a:t>
            </a:r>
            <a:endParaRPr sz="1600" dirty="0">
              <a:solidFill>
                <a:schemeClr val="dk1"/>
              </a:solidFill>
              <a:latin typeface="Arial"/>
              <a:ea typeface="Arial"/>
              <a:cs typeface="Arial"/>
              <a:sym typeface="Arial"/>
            </a:endParaRPr>
          </a:p>
        </p:txBody>
      </p:sp>
      <p:sp>
        <p:nvSpPr>
          <p:cNvPr id="4" name="Shape 25">
            <a:extLst>
              <a:ext uri="{FF2B5EF4-FFF2-40B4-BE49-F238E27FC236}">
                <a16:creationId xmlns:a16="http://schemas.microsoft.com/office/drawing/2014/main" id="{CFAEE622-B20D-54F6-0E1B-D71ED85BDD81}"/>
              </a:ext>
            </a:extLst>
          </p:cNvPr>
          <p:cNvSpPr/>
          <p:nvPr/>
        </p:nvSpPr>
        <p:spPr>
          <a:xfrm>
            <a:off x="10110181" y="5336755"/>
            <a:ext cx="1997576" cy="1488874"/>
          </a:xfrm>
          <a:prstGeom prst="roundRect">
            <a:avLst>
              <a:gd name="adj" fmla="val 5263"/>
            </a:avLst>
          </a:prstGeom>
          <a:solidFill>
            <a:srgbClr val="F2FBFA"/>
          </a:solidFill>
          <a:ln/>
        </p:spPr>
        <p:txBody>
          <a:bodyPr/>
          <a:lstStyle/>
          <a:p>
            <a:endParaRPr lang="en-IN" sz="1300"/>
          </a:p>
        </p:txBody>
      </p:sp>
      <p:pic>
        <p:nvPicPr>
          <p:cNvPr id="8" name="Image 10" descr="preencoded.png">
            <a:extLst>
              <a:ext uri="{FF2B5EF4-FFF2-40B4-BE49-F238E27FC236}">
                <a16:creationId xmlns:a16="http://schemas.microsoft.com/office/drawing/2014/main" id="{36DBC06A-13A3-6437-E88F-F0516C1F0607}"/>
              </a:ext>
            </a:extLst>
          </p:cNvPr>
          <p:cNvPicPr>
            <a:picLocks noChangeAspect="1"/>
          </p:cNvPicPr>
          <p:nvPr/>
        </p:nvPicPr>
        <p:blipFill>
          <a:blip r:embed="rId13"/>
          <a:stretch>
            <a:fillRect/>
          </a:stretch>
        </p:blipFill>
        <p:spPr>
          <a:xfrm>
            <a:off x="10226512" y="5493478"/>
            <a:ext cx="224289" cy="313447"/>
          </a:xfrm>
          <a:prstGeom prst="rect">
            <a:avLst/>
          </a:prstGeom>
        </p:spPr>
      </p:pic>
      <p:sp>
        <p:nvSpPr>
          <p:cNvPr id="14" name="Text 26">
            <a:extLst>
              <a:ext uri="{FF2B5EF4-FFF2-40B4-BE49-F238E27FC236}">
                <a16:creationId xmlns:a16="http://schemas.microsoft.com/office/drawing/2014/main" id="{0C94512A-D793-5D4C-A550-12E5A3BC3537}"/>
              </a:ext>
            </a:extLst>
          </p:cNvPr>
          <p:cNvSpPr/>
          <p:nvPr/>
        </p:nvSpPr>
        <p:spPr>
          <a:xfrm>
            <a:off x="10530724" y="5473888"/>
            <a:ext cx="1471898" cy="342833"/>
          </a:xfrm>
          <a:prstGeom prst="rect">
            <a:avLst/>
          </a:prstGeom>
          <a:noFill/>
          <a:ln/>
        </p:spPr>
        <p:txBody>
          <a:bodyPr wrap="square" lIns="0" tIns="0" rIns="0" bIns="0" rtlCol="0" anchor="ctr"/>
          <a:lstStyle/>
          <a:p>
            <a:pPr marL="0" indent="0">
              <a:buNone/>
            </a:pPr>
            <a:r>
              <a:rPr lang="en-US" sz="1300" b="1" dirty="0">
                <a:solidFill>
                  <a:srgbClr val="028090"/>
                </a:solidFill>
                <a:ea typeface="Calibri" pitchFamily="34" charset="-122"/>
                <a:cs typeface="Calibri" pitchFamily="34" charset="-120"/>
              </a:rPr>
              <a:t>Medicine dispenser</a:t>
            </a:r>
            <a:endParaRPr lang="en-US" sz="1300" dirty="0"/>
          </a:p>
        </p:txBody>
      </p:sp>
      <p:sp>
        <p:nvSpPr>
          <p:cNvPr id="16" name="Text 27">
            <a:extLst>
              <a:ext uri="{FF2B5EF4-FFF2-40B4-BE49-F238E27FC236}">
                <a16:creationId xmlns:a16="http://schemas.microsoft.com/office/drawing/2014/main" id="{0961CA8A-168C-6CBE-092E-91C0E70E896F}"/>
              </a:ext>
            </a:extLst>
          </p:cNvPr>
          <p:cNvSpPr/>
          <p:nvPr/>
        </p:nvSpPr>
        <p:spPr>
          <a:xfrm>
            <a:off x="10236344" y="5875492"/>
            <a:ext cx="1745250" cy="881570"/>
          </a:xfrm>
          <a:prstGeom prst="rect">
            <a:avLst/>
          </a:prstGeom>
          <a:noFill/>
          <a:ln/>
        </p:spPr>
        <p:txBody>
          <a:bodyPr wrap="square" lIns="0" tIns="0" rIns="0" bIns="0" rtlCol="0" anchor="ctr"/>
          <a:lstStyle/>
          <a:p>
            <a:pPr marL="0" indent="0">
              <a:lnSpc>
                <a:spcPts val="1300"/>
              </a:lnSpc>
              <a:buNone/>
            </a:pPr>
            <a:r>
              <a:rPr lang="en-US" sz="1300" dirty="0">
                <a:solidFill>
                  <a:srgbClr val="5A6B70"/>
                </a:solidFill>
                <a:ea typeface="Calibri" pitchFamily="34" charset="-122"/>
                <a:cs typeface="Calibri" pitchFamily="34" charset="-120"/>
              </a:rPr>
              <a:t>Vending-machine unit unlocked only after the doctor's digital approval.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6"/>
          <p:cNvSpPr txBox="1">
            <a:spLocks noGrp="1"/>
          </p:cNvSpPr>
          <p:nvPr>
            <p:ph type="title"/>
          </p:nvPr>
        </p:nvSpPr>
        <p:spPr>
          <a:xfrm>
            <a:off x="0" y="18255"/>
            <a:ext cx="12192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B3742"/>
              </a:buClr>
              <a:buSzPts val="4400"/>
              <a:buFont typeface="Arial"/>
              <a:buNone/>
            </a:pPr>
            <a:r>
              <a:rPr lang="en-IN" dirty="0">
                <a:solidFill>
                  <a:srgbClr val="0B3742"/>
                </a:solidFill>
                <a:latin typeface="Arial"/>
                <a:ea typeface="Arial"/>
                <a:cs typeface="Arial"/>
                <a:sym typeface="Arial"/>
              </a:rPr>
              <a:t> Proof of Concept — How One Visit Works</a:t>
            </a:r>
            <a:endParaRPr dirty="0">
              <a:latin typeface="Arial"/>
              <a:ea typeface="Arial"/>
              <a:cs typeface="Arial"/>
              <a:sym typeface="Arial"/>
            </a:endParaRPr>
          </a:p>
        </p:txBody>
      </p:sp>
      <p:grpSp>
        <p:nvGrpSpPr>
          <p:cNvPr id="176" name="Google Shape;176;p6"/>
          <p:cNvGrpSpPr/>
          <p:nvPr/>
        </p:nvGrpSpPr>
        <p:grpSpPr>
          <a:xfrm>
            <a:off x="535304" y="1152526"/>
            <a:ext cx="11370945" cy="1516856"/>
            <a:chOff x="535305" y="1343818"/>
            <a:chExt cx="10927080" cy="1325563"/>
          </a:xfrm>
        </p:grpSpPr>
        <p:sp>
          <p:nvSpPr>
            <p:cNvPr id="177" name="Google Shape;177;p6"/>
            <p:cNvSpPr/>
            <p:nvPr/>
          </p:nvSpPr>
          <p:spPr>
            <a:xfrm>
              <a:off x="535305" y="1343818"/>
              <a:ext cx="10927080" cy="1325563"/>
            </a:xfrm>
            <a:prstGeom prst="roundRect">
              <a:avLst>
                <a:gd name="adj" fmla="val 9412"/>
              </a:avLst>
            </a:prstGeom>
            <a:solidFill>
              <a:srgbClr val="0B374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 name="Google Shape;178;p6"/>
            <p:cNvSpPr/>
            <p:nvPr/>
          </p:nvSpPr>
          <p:spPr>
            <a:xfrm>
              <a:off x="786764" y="1496218"/>
              <a:ext cx="10538324" cy="961232"/>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rgbClr val="D7EAE8"/>
                </a:buClr>
                <a:buSzPts val="2000"/>
                <a:buFont typeface="Calibri"/>
                <a:buNone/>
              </a:pPr>
              <a:r>
                <a:rPr lang="en-IN" sz="2000" b="1">
                  <a:solidFill>
                    <a:srgbClr val="D7EAE8"/>
                  </a:solidFill>
                  <a:latin typeface="Calibri"/>
                  <a:ea typeface="Calibri"/>
                  <a:cs typeface="Calibri"/>
                  <a:sym typeface="Calibri"/>
                </a:rPr>
                <a:t>Prototype plan</a:t>
              </a:r>
              <a:r>
                <a:rPr lang="en-IN" sz="2000">
                  <a:solidFill>
                    <a:srgbClr val="D7EAE8"/>
                  </a:solidFill>
                  <a:latin typeface="Calibri"/>
                  <a:ea typeface="Calibri"/>
                  <a:cs typeface="Calibri"/>
                  <a:sym typeface="Calibri"/>
                </a:rPr>
                <a:t>: a tabletop model using a Raspberry Pi, off-the-shelf BP monitor &amp; pulse oximeter, a speech-to-text API with an LLM chatbot in Kannada/Hindi, a slip printer  and a person role-playing the online doctor.</a:t>
              </a:r>
              <a:endParaRPr sz="2000">
                <a:solidFill>
                  <a:schemeClr val="dk1"/>
                </a:solidFill>
                <a:latin typeface="Arial"/>
                <a:ea typeface="Arial"/>
                <a:cs typeface="Arial"/>
                <a:sym typeface="Arial"/>
              </a:endParaRPr>
            </a:p>
          </p:txBody>
        </p:sp>
      </p:grpSp>
      <p:pic>
        <p:nvPicPr>
          <p:cNvPr id="179" name="Google Shape;179;p6"/>
          <p:cNvPicPr preferRelativeResize="0"/>
          <p:nvPr/>
        </p:nvPicPr>
        <p:blipFill rotWithShape="1">
          <a:blip r:embed="rId3">
            <a:alphaModFix/>
          </a:blip>
          <a:srcRect/>
          <a:stretch/>
        </p:blipFill>
        <p:spPr>
          <a:xfrm>
            <a:off x="601981" y="2895600"/>
            <a:ext cx="5270035" cy="3719512"/>
          </a:xfrm>
          <a:prstGeom prst="rect">
            <a:avLst/>
          </a:prstGeom>
          <a:noFill/>
          <a:ln w="38100" cap="sq" cmpd="sng">
            <a:solidFill>
              <a:srgbClr val="000000"/>
            </a:solidFill>
            <a:prstDash val="solid"/>
            <a:miter lim="8000"/>
            <a:headEnd type="none" w="sm" len="sm"/>
            <a:tailEnd type="none" w="sm" len="sm"/>
          </a:ln>
          <a:effectLst>
            <a:outerShdw blurRad="50800" dist="38100" dir="2700000" algn="tl" rotWithShape="0">
              <a:srgbClr val="000000">
                <a:alpha val="43137"/>
              </a:srgbClr>
            </a:outerShdw>
          </a:effectLst>
        </p:spPr>
      </p:pic>
      <p:grpSp>
        <p:nvGrpSpPr>
          <p:cNvPr id="180" name="Google Shape;180;p6"/>
          <p:cNvGrpSpPr/>
          <p:nvPr/>
        </p:nvGrpSpPr>
        <p:grpSpPr>
          <a:xfrm>
            <a:off x="9226453" y="2905125"/>
            <a:ext cx="2536921" cy="3657600"/>
            <a:chOff x="5450205" y="1200150"/>
            <a:chExt cx="3924300" cy="5657850"/>
          </a:xfrm>
        </p:grpSpPr>
        <p:pic>
          <p:nvPicPr>
            <p:cNvPr id="181" name="Google Shape;181;p6"/>
            <p:cNvPicPr preferRelativeResize="0"/>
            <p:nvPr/>
          </p:nvPicPr>
          <p:blipFill rotWithShape="1">
            <a:blip r:embed="rId4">
              <a:alphaModFix/>
            </a:blip>
            <a:srcRect l="5790" t="8056" r="8292" b="9444"/>
            <a:stretch/>
          </p:blipFill>
          <p:spPr>
            <a:xfrm>
              <a:off x="5450205" y="1200150"/>
              <a:ext cx="3924300" cy="5657850"/>
            </a:xfrm>
            <a:prstGeom prst="rect">
              <a:avLst/>
            </a:prstGeom>
            <a:noFill/>
            <a:ln w="88900" cap="sq" cmpd="thickThin">
              <a:solidFill>
                <a:srgbClr val="000000"/>
              </a:solidFill>
              <a:prstDash val="solid"/>
              <a:miter lim="8000"/>
              <a:headEnd type="none" w="sm" len="sm"/>
              <a:tailEnd type="none" w="sm" len="sm"/>
            </a:ln>
          </p:spPr>
        </p:pic>
        <p:sp>
          <p:nvSpPr>
            <p:cNvPr id="182" name="Google Shape;182;p6"/>
            <p:cNvSpPr/>
            <p:nvPr/>
          </p:nvSpPr>
          <p:spPr>
            <a:xfrm>
              <a:off x="6328833" y="2318610"/>
              <a:ext cx="1154431" cy="12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500">
                  <a:solidFill>
                    <a:schemeClr val="dk1"/>
                  </a:solidFill>
                  <a:latin typeface="Arial"/>
                  <a:ea typeface="Arial"/>
                  <a:cs typeface="Arial"/>
                  <a:sym typeface="Arial"/>
                </a:rPr>
                <a:t>Subbamma Gowda</a:t>
              </a:r>
              <a:endParaRPr/>
            </a:p>
          </p:txBody>
        </p:sp>
        <p:sp>
          <p:nvSpPr>
            <p:cNvPr id="183" name="Google Shape;183;p6"/>
            <p:cNvSpPr/>
            <p:nvPr/>
          </p:nvSpPr>
          <p:spPr>
            <a:xfrm>
              <a:off x="6328834" y="2505075"/>
              <a:ext cx="1030816" cy="12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500">
                  <a:solidFill>
                    <a:schemeClr val="dk1"/>
                  </a:solidFill>
                  <a:latin typeface="Arial"/>
                  <a:ea typeface="Arial"/>
                  <a:cs typeface="Arial"/>
                  <a:sym typeface="Arial"/>
                </a:rPr>
                <a:t>50 y</a:t>
              </a:r>
              <a:endParaRPr/>
            </a:p>
          </p:txBody>
        </p:sp>
        <p:sp>
          <p:nvSpPr>
            <p:cNvPr id="184" name="Google Shape;184;p6"/>
            <p:cNvSpPr/>
            <p:nvPr/>
          </p:nvSpPr>
          <p:spPr>
            <a:xfrm>
              <a:off x="8041213" y="2320528"/>
              <a:ext cx="910166" cy="12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500">
                  <a:solidFill>
                    <a:schemeClr val="dk1"/>
                  </a:solidFill>
                  <a:latin typeface="Arial"/>
                  <a:ea typeface="Arial"/>
                  <a:cs typeface="Arial"/>
                  <a:sym typeface="Arial"/>
                </a:rPr>
                <a:t>26 Jan 1976</a:t>
              </a:r>
              <a:endParaRPr/>
            </a:p>
          </p:txBody>
        </p:sp>
      </p:grpSp>
      <p:pic>
        <p:nvPicPr>
          <p:cNvPr id="185" name="Google Shape;185;p6"/>
          <p:cNvPicPr preferRelativeResize="0"/>
          <p:nvPr/>
        </p:nvPicPr>
        <p:blipFill rotWithShape="1">
          <a:blip r:embed="rId5">
            <a:alphaModFix/>
          </a:blip>
          <a:srcRect/>
          <a:stretch/>
        </p:blipFill>
        <p:spPr>
          <a:xfrm>
            <a:off x="6112717" y="2843775"/>
            <a:ext cx="2857796" cy="381039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7FFC7-8D47-4786-59AA-901C5A5D3516}"/>
              </a:ext>
            </a:extLst>
          </p:cNvPr>
          <p:cNvSpPr>
            <a:spLocks noGrp="1"/>
          </p:cNvSpPr>
          <p:nvPr>
            <p:ph type="title"/>
          </p:nvPr>
        </p:nvSpPr>
        <p:spPr>
          <a:xfrm>
            <a:off x="0" y="0"/>
            <a:ext cx="10515600" cy="1325563"/>
          </a:xfrm>
        </p:spPr>
        <p:txBody>
          <a:bodyPr/>
          <a:lstStyle/>
          <a:p>
            <a:r>
              <a:rPr lang="en-US" dirty="0">
                <a:latin typeface="+mj-lt"/>
              </a:rPr>
              <a:t> Workflow</a:t>
            </a:r>
            <a:endParaRPr lang="en-IN" dirty="0">
              <a:latin typeface="+mj-lt"/>
            </a:endParaRPr>
          </a:p>
        </p:txBody>
      </p:sp>
      <p:grpSp>
        <p:nvGrpSpPr>
          <p:cNvPr id="47" name="Group 46">
            <a:extLst>
              <a:ext uri="{FF2B5EF4-FFF2-40B4-BE49-F238E27FC236}">
                <a16:creationId xmlns:a16="http://schemas.microsoft.com/office/drawing/2014/main" id="{A219349A-DE22-8447-3046-723CDB9BF3EA}"/>
              </a:ext>
            </a:extLst>
          </p:cNvPr>
          <p:cNvGrpSpPr/>
          <p:nvPr/>
        </p:nvGrpSpPr>
        <p:grpSpPr>
          <a:xfrm>
            <a:off x="628674" y="1927755"/>
            <a:ext cx="10479255" cy="3794859"/>
            <a:chOff x="628674" y="1927755"/>
            <a:chExt cx="10479255" cy="3794859"/>
          </a:xfrm>
        </p:grpSpPr>
        <p:sp>
          <p:nvSpPr>
            <p:cNvPr id="177" name="Rectangle: Rounded Corners 176">
              <a:extLst>
                <a:ext uri="{FF2B5EF4-FFF2-40B4-BE49-F238E27FC236}">
                  <a16:creationId xmlns:a16="http://schemas.microsoft.com/office/drawing/2014/main" id="{6EEC8375-5519-ABC0-6323-B2E9826F8A76}"/>
                </a:ext>
              </a:extLst>
            </p:cNvPr>
            <p:cNvSpPr/>
            <p:nvPr/>
          </p:nvSpPr>
          <p:spPr>
            <a:xfrm>
              <a:off x="628674" y="1971675"/>
              <a:ext cx="1635760" cy="1086380"/>
            </a:xfrm>
            <a:prstGeom prst="roundRect">
              <a:avLst>
                <a:gd name="adj" fmla="val 42029"/>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sz="2400" dirty="0"/>
                <a:t>Booth Entry</a:t>
              </a:r>
            </a:p>
          </p:txBody>
        </p:sp>
        <p:sp>
          <p:nvSpPr>
            <p:cNvPr id="15" name="Rectangle: Rounded Corners 14">
              <a:extLst>
                <a:ext uri="{FF2B5EF4-FFF2-40B4-BE49-F238E27FC236}">
                  <a16:creationId xmlns:a16="http://schemas.microsoft.com/office/drawing/2014/main" id="{3EC5213A-3C1F-8FBC-D31E-C86E9BD3375F}"/>
                </a:ext>
              </a:extLst>
            </p:cNvPr>
            <p:cNvSpPr/>
            <p:nvPr/>
          </p:nvSpPr>
          <p:spPr>
            <a:xfrm>
              <a:off x="3297776" y="1927755"/>
              <a:ext cx="1635760" cy="1168400"/>
            </a:xfrm>
            <a:prstGeom prst="roundRect">
              <a:avLst>
                <a:gd name="adj" fmla="val 4202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Identify User</a:t>
              </a:r>
            </a:p>
          </p:txBody>
        </p:sp>
        <p:sp>
          <p:nvSpPr>
            <p:cNvPr id="25" name="Rectangle: Rounded Corners 24">
              <a:extLst>
                <a:ext uri="{FF2B5EF4-FFF2-40B4-BE49-F238E27FC236}">
                  <a16:creationId xmlns:a16="http://schemas.microsoft.com/office/drawing/2014/main" id="{BCA2CDC9-0165-28A6-3828-5ECE1CAFD518}"/>
                </a:ext>
              </a:extLst>
            </p:cNvPr>
            <p:cNvSpPr/>
            <p:nvPr/>
          </p:nvSpPr>
          <p:spPr>
            <a:xfrm>
              <a:off x="6096000" y="1927755"/>
              <a:ext cx="2169158" cy="1168400"/>
            </a:xfrm>
            <a:prstGeom prst="roundRect">
              <a:avLst>
                <a:gd name="adj" fmla="val 4202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Capture Health Data</a:t>
              </a:r>
            </a:p>
          </p:txBody>
        </p:sp>
        <p:sp>
          <p:nvSpPr>
            <p:cNvPr id="4" name="Rectangle: Rounded Corners 3">
              <a:extLst>
                <a:ext uri="{FF2B5EF4-FFF2-40B4-BE49-F238E27FC236}">
                  <a16:creationId xmlns:a16="http://schemas.microsoft.com/office/drawing/2014/main" id="{FAD9F0A2-13DA-9F4F-541F-9ED722D57B34}"/>
                </a:ext>
              </a:extLst>
            </p:cNvPr>
            <p:cNvSpPr/>
            <p:nvPr/>
          </p:nvSpPr>
          <p:spPr>
            <a:xfrm>
              <a:off x="9298500" y="1927755"/>
              <a:ext cx="1635760" cy="1168400"/>
            </a:xfrm>
            <a:prstGeom prst="roundRect">
              <a:avLst>
                <a:gd name="adj" fmla="val 4202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Q&amp;A</a:t>
              </a:r>
            </a:p>
          </p:txBody>
        </p:sp>
        <p:sp>
          <p:nvSpPr>
            <p:cNvPr id="8" name="Rectangle: Rounded Corners 7">
              <a:extLst>
                <a:ext uri="{FF2B5EF4-FFF2-40B4-BE49-F238E27FC236}">
                  <a16:creationId xmlns:a16="http://schemas.microsoft.com/office/drawing/2014/main" id="{A628A193-6905-5393-E8D7-36DF22CD68A9}"/>
                </a:ext>
              </a:extLst>
            </p:cNvPr>
            <p:cNvSpPr/>
            <p:nvPr/>
          </p:nvSpPr>
          <p:spPr>
            <a:xfrm>
              <a:off x="9157844" y="4511038"/>
              <a:ext cx="1950085" cy="1168400"/>
            </a:xfrm>
            <a:prstGeom prst="roundRect">
              <a:avLst>
                <a:gd name="adj" fmla="val 4202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Diagnosis &amp; Advice</a:t>
              </a:r>
            </a:p>
          </p:txBody>
        </p:sp>
        <p:sp>
          <p:nvSpPr>
            <p:cNvPr id="10" name="Rectangle: Rounded Corners 9">
              <a:extLst>
                <a:ext uri="{FF2B5EF4-FFF2-40B4-BE49-F238E27FC236}">
                  <a16:creationId xmlns:a16="http://schemas.microsoft.com/office/drawing/2014/main" id="{CEEFBF4C-D126-AADA-F487-82C7D3331104}"/>
                </a:ext>
              </a:extLst>
            </p:cNvPr>
            <p:cNvSpPr/>
            <p:nvPr/>
          </p:nvSpPr>
          <p:spPr>
            <a:xfrm>
              <a:off x="6147054" y="4532626"/>
              <a:ext cx="1950085" cy="1168400"/>
            </a:xfrm>
            <a:prstGeom prst="roundRect">
              <a:avLst>
                <a:gd name="adj" fmla="val 4202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Review by Doctor</a:t>
              </a:r>
            </a:p>
          </p:txBody>
        </p:sp>
        <p:sp>
          <p:nvSpPr>
            <p:cNvPr id="11" name="Rectangle: Rounded Corners 10">
              <a:extLst>
                <a:ext uri="{FF2B5EF4-FFF2-40B4-BE49-F238E27FC236}">
                  <a16:creationId xmlns:a16="http://schemas.microsoft.com/office/drawing/2014/main" id="{85E8BF25-8A57-ACB3-D9A9-E55F027610E6}"/>
                </a:ext>
              </a:extLst>
            </p:cNvPr>
            <p:cNvSpPr/>
            <p:nvPr/>
          </p:nvSpPr>
          <p:spPr>
            <a:xfrm>
              <a:off x="3144964" y="4554214"/>
              <a:ext cx="1941385" cy="1168400"/>
            </a:xfrm>
            <a:prstGeom prst="roundRect">
              <a:avLst>
                <a:gd name="adj" fmla="val 4202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Dispense Medicine</a:t>
              </a:r>
            </a:p>
          </p:txBody>
        </p:sp>
        <p:cxnSp>
          <p:nvCxnSpPr>
            <p:cNvPr id="14" name="Straight Arrow Connector 13">
              <a:extLst>
                <a:ext uri="{FF2B5EF4-FFF2-40B4-BE49-F238E27FC236}">
                  <a16:creationId xmlns:a16="http://schemas.microsoft.com/office/drawing/2014/main" id="{6D1126EF-0B8D-5396-8C78-28533308718F}"/>
                </a:ext>
              </a:extLst>
            </p:cNvPr>
            <p:cNvCxnSpPr>
              <a:cxnSpLocks/>
              <a:stCxn id="177" idx="3"/>
              <a:endCxn id="15" idx="1"/>
            </p:cNvCxnSpPr>
            <p:nvPr/>
          </p:nvCxnSpPr>
          <p:spPr>
            <a:xfrm flipV="1">
              <a:off x="2264434" y="2511955"/>
              <a:ext cx="1033342" cy="2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BF5B5C7-6FE8-2F92-48F6-858402013091}"/>
                </a:ext>
              </a:extLst>
            </p:cNvPr>
            <p:cNvCxnSpPr>
              <a:cxnSpLocks/>
              <a:stCxn id="15" idx="3"/>
              <a:endCxn id="25" idx="1"/>
            </p:cNvCxnSpPr>
            <p:nvPr/>
          </p:nvCxnSpPr>
          <p:spPr>
            <a:xfrm>
              <a:off x="4933536" y="2511955"/>
              <a:ext cx="11624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850D93F-78FA-BFD4-6B24-63068B292F2D}"/>
                </a:ext>
              </a:extLst>
            </p:cNvPr>
            <p:cNvCxnSpPr>
              <a:cxnSpLocks/>
              <a:stCxn id="25" idx="3"/>
              <a:endCxn id="4" idx="1"/>
            </p:cNvCxnSpPr>
            <p:nvPr/>
          </p:nvCxnSpPr>
          <p:spPr>
            <a:xfrm>
              <a:off x="8265158" y="2511955"/>
              <a:ext cx="10333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C9C6508-9CC7-ED0D-42C1-E4988B1D5488}"/>
                </a:ext>
              </a:extLst>
            </p:cNvPr>
            <p:cNvCxnSpPr>
              <a:cxnSpLocks/>
              <a:stCxn id="4" idx="2"/>
              <a:endCxn id="8" idx="0"/>
            </p:cNvCxnSpPr>
            <p:nvPr/>
          </p:nvCxnSpPr>
          <p:spPr>
            <a:xfrm>
              <a:off x="10116380" y="3096155"/>
              <a:ext cx="16507" cy="1414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B7E1EE1-4D2C-FEB1-855A-93585B838663}"/>
                </a:ext>
              </a:extLst>
            </p:cNvPr>
            <p:cNvCxnSpPr>
              <a:cxnSpLocks/>
              <a:stCxn id="8" idx="1"/>
              <a:endCxn id="10" idx="3"/>
            </p:cNvCxnSpPr>
            <p:nvPr/>
          </p:nvCxnSpPr>
          <p:spPr>
            <a:xfrm flipH="1">
              <a:off x="8097139" y="5095238"/>
              <a:ext cx="1060705" cy="2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0D181E5-45CE-2C3A-504A-6CE5EFB27BF5}"/>
                </a:ext>
              </a:extLst>
            </p:cNvPr>
            <p:cNvCxnSpPr>
              <a:cxnSpLocks/>
              <a:stCxn id="10" idx="1"/>
              <a:endCxn id="11" idx="3"/>
            </p:cNvCxnSpPr>
            <p:nvPr/>
          </p:nvCxnSpPr>
          <p:spPr>
            <a:xfrm flipH="1">
              <a:off x="5086349" y="5116826"/>
              <a:ext cx="1060705" cy="2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6B6FC630-3127-D9C4-B833-BCBB19EF0027}"/>
                </a:ext>
              </a:extLst>
            </p:cNvPr>
            <p:cNvSpPr/>
            <p:nvPr/>
          </p:nvSpPr>
          <p:spPr>
            <a:xfrm>
              <a:off x="628674" y="4607659"/>
              <a:ext cx="1635760" cy="1086380"/>
            </a:xfrm>
            <a:prstGeom prst="roundRect">
              <a:avLst>
                <a:gd name="adj" fmla="val 42029"/>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sz="2400" dirty="0"/>
                <a:t>Booth Exit</a:t>
              </a:r>
            </a:p>
          </p:txBody>
        </p:sp>
        <p:cxnSp>
          <p:nvCxnSpPr>
            <p:cNvPr id="44" name="Straight Arrow Connector 43">
              <a:extLst>
                <a:ext uri="{FF2B5EF4-FFF2-40B4-BE49-F238E27FC236}">
                  <a16:creationId xmlns:a16="http://schemas.microsoft.com/office/drawing/2014/main" id="{D3196BF2-EFDE-E5D4-66AE-58146BDE1D02}"/>
                </a:ext>
              </a:extLst>
            </p:cNvPr>
            <p:cNvCxnSpPr>
              <a:cxnSpLocks/>
              <a:stCxn id="11" idx="1"/>
              <a:endCxn id="43" idx="3"/>
            </p:cNvCxnSpPr>
            <p:nvPr/>
          </p:nvCxnSpPr>
          <p:spPr>
            <a:xfrm flipH="1">
              <a:off x="2264434" y="5138414"/>
              <a:ext cx="880530" cy="12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79118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13D1D-56E9-3C64-BDA0-29B4E59DE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EFE05-F108-19D6-8B53-9C0ACADAB621}"/>
              </a:ext>
            </a:extLst>
          </p:cNvPr>
          <p:cNvSpPr>
            <a:spLocks noGrp="1"/>
          </p:cNvSpPr>
          <p:nvPr>
            <p:ph type="title"/>
          </p:nvPr>
        </p:nvSpPr>
        <p:spPr>
          <a:xfrm>
            <a:off x="0" y="0"/>
            <a:ext cx="10515600" cy="1325563"/>
          </a:xfrm>
        </p:spPr>
        <p:txBody>
          <a:bodyPr/>
          <a:lstStyle/>
          <a:p>
            <a:r>
              <a:rPr lang="en-US" dirty="0">
                <a:latin typeface="+mj-lt"/>
              </a:rPr>
              <a:t> Workflow - Breakup</a:t>
            </a:r>
            <a:endParaRPr lang="en-IN" dirty="0">
              <a:latin typeface="+mj-lt"/>
            </a:endParaRPr>
          </a:p>
        </p:txBody>
      </p:sp>
      <p:sp>
        <p:nvSpPr>
          <p:cNvPr id="19" name="Rectangle: Rounded Corners 18">
            <a:extLst>
              <a:ext uri="{FF2B5EF4-FFF2-40B4-BE49-F238E27FC236}">
                <a16:creationId xmlns:a16="http://schemas.microsoft.com/office/drawing/2014/main" id="{3B6A59EF-B4AC-267C-BB68-315CA0204211}"/>
              </a:ext>
            </a:extLst>
          </p:cNvPr>
          <p:cNvSpPr/>
          <p:nvPr/>
        </p:nvSpPr>
        <p:spPr>
          <a:xfrm>
            <a:off x="1237935" y="5631149"/>
            <a:ext cx="1440000" cy="7200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Capture Details</a:t>
            </a:r>
          </a:p>
        </p:txBody>
      </p:sp>
      <p:sp>
        <p:nvSpPr>
          <p:cNvPr id="23" name="Rectangle: Rounded Corners 22">
            <a:extLst>
              <a:ext uri="{FF2B5EF4-FFF2-40B4-BE49-F238E27FC236}">
                <a16:creationId xmlns:a16="http://schemas.microsoft.com/office/drawing/2014/main" id="{EBCAD8A6-F91A-522F-9D43-171832EC2E7B}"/>
              </a:ext>
            </a:extLst>
          </p:cNvPr>
          <p:cNvSpPr/>
          <p:nvPr/>
        </p:nvSpPr>
        <p:spPr>
          <a:xfrm>
            <a:off x="1237934" y="4189318"/>
            <a:ext cx="1440000" cy="720000"/>
          </a:xfrm>
          <a:prstGeom prst="roundRect">
            <a:avLst>
              <a:gd name="adj" fmla="val 42029"/>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Validate User</a:t>
            </a:r>
          </a:p>
        </p:txBody>
      </p:sp>
      <p:sp>
        <p:nvSpPr>
          <p:cNvPr id="29" name="Rectangle: Rounded Corners 28">
            <a:extLst>
              <a:ext uri="{FF2B5EF4-FFF2-40B4-BE49-F238E27FC236}">
                <a16:creationId xmlns:a16="http://schemas.microsoft.com/office/drawing/2014/main" id="{7B1604FD-E608-9384-2BFF-577D15D75522}"/>
              </a:ext>
            </a:extLst>
          </p:cNvPr>
          <p:cNvSpPr/>
          <p:nvPr/>
        </p:nvSpPr>
        <p:spPr>
          <a:xfrm>
            <a:off x="1228655" y="2873926"/>
            <a:ext cx="1440000" cy="7200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Scan Govt Issued ID</a:t>
            </a:r>
            <a:endParaRPr lang="en-IN" sz="1600" dirty="0">
              <a:solidFill>
                <a:schemeClr val="bg1"/>
              </a:solidFill>
            </a:endParaRPr>
          </a:p>
        </p:txBody>
      </p:sp>
      <p:sp>
        <p:nvSpPr>
          <p:cNvPr id="31" name="Rectangle: Rounded Corners 30">
            <a:extLst>
              <a:ext uri="{FF2B5EF4-FFF2-40B4-BE49-F238E27FC236}">
                <a16:creationId xmlns:a16="http://schemas.microsoft.com/office/drawing/2014/main" id="{7CFAE653-6050-55C7-7A42-6FECCA6ED49A}"/>
              </a:ext>
            </a:extLst>
          </p:cNvPr>
          <p:cNvSpPr/>
          <p:nvPr/>
        </p:nvSpPr>
        <p:spPr>
          <a:xfrm>
            <a:off x="9696068" y="6458774"/>
            <a:ext cx="906994" cy="384956"/>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bg1"/>
                </a:solidFill>
              </a:rPr>
              <a:t>In PoC</a:t>
            </a:r>
          </a:p>
        </p:txBody>
      </p:sp>
      <p:grpSp>
        <p:nvGrpSpPr>
          <p:cNvPr id="130" name="Group 129">
            <a:extLst>
              <a:ext uri="{FF2B5EF4-FFF2-40B4-BE49-F238E27FC236}">
                <a16:creationId xmlns:a16="http://schemas.microsoft.com/office/drawing/2014/main" id="{B2F7030E-3731-9A79-F907-DE5258A9BEF7}"/>
              </a:ext>
            </a:extLst>
          </p:cNvPr>
          <p:cNvGrpSpPr/>
          <p:nvPr/>
        </p:nvGrpSpPr>
        <p:grpSpPr>
          <a:xfrm>
            <a:off x="177800" y="1414187"/>
            <a:ext cx="11774113" cy="726002"/>
            <a:chOff x="177800" y="1414187"/>
            <a:chExt cx="11774113" cy="726002"/>
          </a:xfrm>
        </p:grpSpPr>
        <p:sp>
          <p:nvSpPr>
            <p:cNvPr id="4" name="Rectangle: Rounded Corners 3">
              <a:extLst>
                <a:ext uri="{FF2B5EF4-FFF2-40B4-BE49-F238E27FC236}">
                  <a16:creationId xmlns:a16="http://schemas.microsoft.com/office/drawing/2014/main" id="{BA2DB56F-6843-EB9C-73D8-6CE124519917}"/>
                </a:ext>
              </a:extLst>
            </p:cNvPr>
            <p:cNvSpPr/>
            <p:nvPr/>
          </p:nvSpPr>
          <p:spPr>
            <a:xfrm>
              <a:off x="177800" y="1441101"/>
              <a:ext cx="1002385" cy="665727"/>
            </a:xfrm>
            <a:prstGeom prst="roundRect">
              <a:avLst>
                <a:gd name="adj" fmla="val 42029"/>
              </a:avLst>
            </a:prstGeom>
            <a:solidFill>
              <a:schemeClr val="bg1">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Booth Entry</a:t>
              </a:r>
            </a:p>
          </p:txBody>
        </p:sp>
        <p:sp>
          <p:nvSpPr>
            <p:cNvPr id="6" name="Rectangle: Rounded Corners 5">
              <a:extLst>
                <a:ext uri="{FF2B5EF4-FFF2-40B4-BE49-F238E27FC236}">
                  <a16:creationId xmlns:a16="http://schemas.microsoft.com/office/drawing/2014/main" id="{C58A439E-ED00-96AF-7776-8612DE0F7D9F}"/>
                </a:ext>
              </a:extLst>
            </p:cNvPr>
            <p:cNvSpPr/>
            <p:nvPr/>
          </p:nvSpPr>
          <p:spPr>
            <a:xfrm>
              <a:off x="1444309" y="1414187"/>
              <a:ext cx="1002385" cy="715989"/>
            </a:xfrm>
            <a:prstGeom prst="roundRect">
              <a:avLst>
                <a:gd name="adj" fmla="val 4202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Identify User</a:t>
              </a:r>
            </a:p>
          </p:txBody>
        </p:sp>
        <p:sp>
          <p:nvSpPr>
            <p:cNvPr id="8" name="Rectangle: Rounded Corners 7">
              <a:extLst>
                <a:ext uri="{FF2B5EF4-FFF2-40B4-BE49-F238E27FC236}">
                  <a16:creationId xmlns:a16="http://schemas.microsoft.com/office/drawing/2014/main" id="{D6E934E5-5ED2-F8DE-E95B-8D9EEF75BADE}"/>
                </a:ext>
              </a:extLst>
            </p:cNvPr>
            <p:cNvSpPr/>
            <p:nvPr/>
          </p:nvSpPr>
          <p:spPr>
            <a:xfrm>
              <a:off x="3335508" y="1414187"/>
              <a:ext cx="1329248" cy="715989"/>
            </a:xfrm>
            <a:prstGeom prst="roundRect">
              <a:avLst>
                <a:gd name="adj" fmla="val 42029"/>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Capture Health Data</a:t>
              </a:r>
            </a:p>
          </p:txBody>
        </p:sp>
        <p:sp>
          <p:nvSpPr>
            <p:cNvPr id="9" name="Rectangle: Rounded Corners 8">
              <a:extLst>
                <a:ext uri="{FF2B5EF4-FFF2-40B4-BE49-F238E27FC236}">
                  <a16:creationId xmlns:a16="http://schemas.microsoft.com/office/drawing/2014/main" id="{9673BFF7-4377-24B5-4572-415A6028EE41}"/>
                </a:ext>
              </a:extLst>
            </p:cNvPr>
            <p:cNvSpPr/>
            <p:nvPr/>
          </p:nvSpPr>
          <p:spPr>
            <a:xfrm>
              <a:off x="5425502" y="1414187"/>
              <a:ext cx="1002385" cy="715989"/>
            </a:xfrm>
            <a:prstGeom prst="roundRect">
              <a:avLst>
                <a:gd name="adj" fmla="val 42029"/>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Q&amp;A</a:t>
              </a:r>
            </a:p>
          </p:txBody>
        </p:sp>
        <p:sp>
          <p:nvSpPr>
            <p:cNvPr id="10" name="Rectangle: Rounded Corners 9">
              <a:extLst>
                <a:ext uri="{FF2B5EF4-FFF2-40B4-BE49-F238E27FC236}">
                  <a16:creationId xmlns:a16="http://schemas.microsoft.com/office/drawing/2014/main" id="{AC2E7D40-ABD2-FB8D-EA2B-C067D372940D}"/>
                </a:ext>
              </a:extLst>
            </p:cNvPr>
            <p:cNvSpPr/>
            <p:nvPr/>
          </p:nvSpPr>
          <p:spPr>
            <a:xfrm>
              <a:off x="6699059" y="1415701"/>
              <a:ext cx="1195001" cy="715989"/>
            </a:xfrm>
            <a:prstGeom prst="roundRect">
              <a:avLst>
                <a:gd name="adj" fmla="val 42029"/>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Diagnosis &amp; Advice</a:t>
              </a:r>
            </a:p>
          </p:txBody>
        </p:sp>
        <p:sp>
          <p:nvSpPr>
            <p:cNvPr id="11" name="Rectangle: Rounded Corners 10">
              <a:extLst>
                <a:ext uri="{FF2B5EF4-FFF2-40B4-BE49-F238E27FC236}">
                  <a16:creationId xmlns:a16="http://schemas.microsoft.com/office/drawing/2014/main" id="{F9618DD3-950C-CEE9-0CAE-77460CB50CCF}"/>
                </a:ext>
              </a:extLst>
            </p:cNvPr>
            <p:cNvSpPr/>
            <p:nvPr/>
          </p:nvSpPr>
          <p:spPr>
            <a:xfrm>
              <a:off x="8139495" y="1424200"/>
              <a:ext cx="1195001" cy="715989"/>
            </a:xfrm>
            <a:prstGeom prst="roundRect">
              <a:avLst>
                <a:gd name="adj" fmla="val 42029"/>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Review by Doctor</a:t>
              </a:r>
            </a:p>
          </p:txBody>
        </p:sp>
        <p:sp>
          <p:nvSpPr>
            <p:cNvPr id="12" name="Rectangle: Rounded Corners 11">
              <a:extLst>
                <a:ext uri="{FF2B5EF4-FFF2-40B4-BE49-F238E27FC236}">
                  <a16:creationId xmlns:a16="http://schemas.microsoft.com/office/drawing/2014/main" id="{8205C215-1484-5C08-7AC9-A7EEB342D078}"/>
                </a:ext>
              </a:extLst>
            </p:cNvPr>
            <p:cNvSpPr/>
            <p:nvPr/>
          </p:nvSpPr>
          <p:spPr>
            <a:xfrm>
              <a:off x="9554730" y="1424200"/>
              <a:ext cx="1189670" cy="715989"/>
            </a:xfrm>
            <a:prstGeom prst="roundRect">
              <a:avLst>
                <a:gd name="adj" fmla="val 42029"/>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Dispense Medicine</a:t>
              </a:r>
            </a:p>
          </p:txBody>
        </p:sp>
        <p:cxnSp>
          <p:nvCxnSpPr>
            <p:cNvPr id="14" name="Straight Arrow Connector 13">
              <a:extLst>
                <a:ext uri="{FF2B5EF4-FFF2-40B4-BE49-F238E27FC236}">
                  <a16:creationId xmlns:a16="http://schemas.microsoft.com/office/drawing/2014/main" id="{1201BCB0-9A35-288B-87C3-01FCE3C71351}"/>
                </a:ext>
              </a:extLst>
            </p:cNvPr>
            <p:cNvCxnSpPr>
              <a:cxnSpLocks/>
              <a:stCxn id="4" idx="3"/>
              <a:endCxn id="6" idx="1"/>
            </p:cNvCxnSpPr>
            <p:nvPr/>
          </p:nvCxnSpPr>
          <p:spPr>
            <a:xfrm flipV="1">
              <a:off x="1180185" y="1772182"/>
              <a:ext cx="264124" cy="1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5D5A549-19CC-DA97-A0FE-00D07A37F52B}"/>
                </a:ext>
              </a:extLst>
            </p:cNvPr>
            <p:cNvCxnSpPr>
              <a:cxnSpLocks/>
              <a:stCxn id="6" idx="3"/>
              <a:endCxn id="8" idx="1"/>
            </p:cNvCxnSpPr>
            <p:nvPr/>
          </p:nvCxnSpPr>
          <p:spPr>
            <a:xfrm>
              <a:off x="2446694" y="1772182"/>
              <a:ext cx="888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BF2D23B-F277-7C62-23BE-184DE9F24218}"/>
                </a:ext>
              </a:extLst>
            </p:cNvPr>
            <p:cNvCxnSpPr>
              <a:cxnSpLocks/>
              <a:stCxn id="8" idx="3"/>
              <a:endCxn id="9" idx="1"/>
            </p:cNvCxnSpPr>
            <p:nvPr/>
          </p:nvCxnSpPr>
          <p:spPr>
            <a:xfrm>
              <a:off x="4664756" y="1772182"/>
              <a:ext cx="7607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82B12A1-7FD1-2CCC-725F-1F2F8C68FE0E}"/>
                </a:ext>
              </a:extLst>
            </p:cNvPr>
            <p:cNvCxnSpPr>
              <a:cxnSpLocks/>
              <a:stCxn id="9" idx="3"/>
              <a:endCxn id="10" idx="1"/>
            </p:cNvCxnSpPr>
            <p:nvPr/>
          </p:nvCxnSpPr>
          <p:spPr>
            <a:xfrm>
              <a:off x="6427887" y="1772182"/>
              <a:ext cx="271172" cy="1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5881A0-4170-851B-4A7A-5050B4983D54}"/>
                </a:ext>
              </a:extLst>
            </p:cNvPr>
            <p:cNvCxnSpPr>
              <a:cxnSpLocks/>
              <a:stCxn id="10" idx="3"/>
              <a:endCxn id="11" idx="1"/>
            </p:cNvCxnSpPr>
            <p:nvPr/>
          </p:nvCxnSpPr>
          <p:spPr>
            <a:xfrm>
              <a:off x="7894060" y="1773696"/>
              <a:ext cx="245435" cy="8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2D0921C-641F-8CFF-A176-9E645085134C}"/>
                </a:ext>
              </a:extLst>
            </p:cNvPr>
            <p:cNvCxnSpPr>
              <a:cxnSpLocks/>
              <a:stCxn id="11" idx="3"/>
              <a:endCxn id="12" idx="1"/>
            </p:cNvCxnSpPr>
            <p:nvPr/>
          </p:nvCxnSpPr>
          <p:spPr>
            <a:xfrm>
              <a:off x="9334496" y="1782195"/>
              <a:ext cx="2202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FDB8B62D-857C-F05E-2FA5-FDB0D5F09836}"/>
                </a:ext>
              </a:extLst>
            </p:cNvPr>
            <p:cNvSpPr/>
            <p:nvPr/>
          </p:nvSpPr>
          <p:spPr>
            <a:xfrm>
              <a:off x="10949528" y="1440563"/>
              <a:ext cx="1002385" cy="665727"/>
            </a:xfrm>
            <a:prstGeom prst="roundRect">
              <a:avLst>
                <a:gd name="adj" fmla="val 42029"/>
              </a:avLst>
            </a:prstGeom>
            <a:solidFill>
              <a:schemeClr val="bg1">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Booth Exit</a:t>
              </a:r>
            </a:p>
          </p:txBody>
        </p:sp>
        <p:cxnSp>
          <p:nvCxnSpPr>
            <p:cNvPr id="26" name="Straight Arrow Connector 25">
              <a:extLst>
                <a:ext uri="{FF2B5EF4-FFF2-40B4-BE49-F238E27FC236}">
                  <a16:creationId xmlns:a16="http://schemas.microsoft.com/office/drawing/2014/main" id="{0C13C664-574A-71B9-6DF3-251524956EB7}"/>
                </a:ext>
              </a:extLst>
            </p:cNvPr>
            <p:cNvCxnSpPr>
              <a:cxnSpLocks/>
              <a:stCxn id="12" idx="3"/>
              <a:endCxn id="24" idx="1"/>
            </p:cNvCxnSpPr>
            <p:nvPr/>
          </p:nvCxnSpPr>
          <p:spPr>
            <a:xfrm flipV="1">
              <a:off x="10744400" y="1773427"/>
              <a:ext cx="205128" cy="8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2" name="Rectangle: Rounded Corners 131">
            <a:extLst>
              <a:ext uri="{FF2B5EF4-FFF2-40B4-BE49-F238E27FC236}">
                <a16:creationId xmlns:a16="http://schemas.microsoft.com/office/drawing/2014/main" id="{E5303315-9A5E-AF3B-6232-04274913778A}"/>
              </a:ext>
            </a:extLst>
          </p:cNvPr>
          <p:cNvSpPr/>
          <p:nvPr/>
        </p:nvSpPr>
        <p:spPr>
          <a:xfrm>
            <a:off x="10898871" y="6458774"/>
            <a:ext cx="1103697" cy="399226"/>
          </a:xfrm>
          <a:prstGeom prst="roundRect">
            <a:avLst>
              <a:gd name="adj" fmla="val 42029"/>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bg1"/>
                </a:solidFill>
              </a:rPr>
              <a:t>Not In PoC</a:t>
            </a:r>
          </a:p>
        </p:txBody>
      </p:sp>
      <p:cxnSp>
        <p:nvCxnSpPr>
          <p:cNvPr id="134" name="Straight Connector 133">
            <a:extLst>
              <a:ext uri="{FF2B5EF4-FFF2-40B4-BE49-F238E27FC236}">
                <a16:creationId xmlns:a16="http://schemas.microsoft.com/office/drawing/2014/main" id="{03C95E19-D6B7-997A-52DE-FF355D055CE5}"/>
              </a:ext>
            </a:extLst>
          </p:cNvPr>
          <p:cNvCxnSpPr>
            <a:stCxn id="29" idx="2"/>
            <a:endCxn id="23" idx="0"/>
          </p:cNvCxnSpPr>
          <p:nvPr/>
        </p:nvCxnSpPr>
        <p:spPr>
          <a:xfrm>
            <a:off x="1948655" y="3593926"/>
            <a:ext cx="9279" cy="595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2596EACA-07AB-1211-86E2-2775FF007B32}"/>
              </a:ext>
            </a:extLst>
          </p:cNvPr>
          <p:cNvCxnSpPr>
            <a:cxnSpLocks/>
            <a:stCxn id="23" idx="2"/>
            <a:endCxn id="19" idx="0"/>
          </p:cNvCxnSpPr>
          <p:nvPr/>
        </p:nvCxnSpPr>
        <p:spPr>
          <a:xfrm>
            <a:off x="1957934" y="4909318"/>
            <a:ext cx="1" cy="721831"/>
          </a:xfrm>
          <a:prstGeom prst="line">
            <a:avLst/>
          </a:prstGeom>
        </p:spPr>
        <p:style>
          <a:lnRef idx="1">
            <a:schemeClr val="accent1"/>
          </a:lnRef>
          <a:fillRef idx="0">
            <a:schemeClr val="accent1"/>
          </a:fillRef>
          <a:effectRef idx="0">
            <a:schemeClr val="accent1"/>
          </a:effectRef>
          <a:fontRef idx="minor">
            <a:schemeClr val="tx1"/>
          </a:fontRef>
        </p:style>
      </p:cxnSp>
      <p:sp>
        <p:nvSpPr>
          <p:cNvPr id="138" name="Rectangle: Rounded Corners 137">
            <a:extLst>
              <a:ext uri="{FF2B5EF4-FFF2-40B4-BE49-F238E27FC236}">
                <a16:creationId xmlns:a16="http://schemas.microsoft.com/office/drawing/2014/main" id="{C704E411-AABE-08C5-1615-60A4AA74131A}"/>
              </a:ext>
            </a:extLst>
          </p:cNvPr>
          <p:cNvSpPr/>
          <p:nvPr/>
        </p:nvSpPr>
        <p:spPr>
          <a:xfrm>
            <a:off x="3287038" y="5573831"/>
            <a:ext cx="1440000" cy="7200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Capture Details</a:t>
            </a:r>
          </a:p>
        </p:txBody>
      </p:sp>
      <p:sp>
        <p:nvSpPr>
          <p:cNvPr id="139" name="Rectangle: Rounded Corners 138">
            <a:extLst>
              <a:ext uri="{FF2B5EF4-FFF2-40B4-BE49-F238E27FC236}">
                <a16:creationId xmlns:a16="http://schemas.microsoft.com/office/drawing/2014/main" id="{39698420-7015-AAA3-5996-24E005CD23FB}"/>
              </a:ext>
            </a:extLst>
          </p:cNvPr>
          <p:cNvSpPr/>
          <p:nvPr/>
        </p:nvSpPr>
        <p:spPr>
          <a:xfrm>
            <a:off x="3287037" y="4132000"/>
            <a:ext cx="1440000" cy="720000"/>
          </a:xfrm>
          <a:prstGeom prst="roundRect">
            <a:avLst>
              <a:gd name="adj" fmla="val 42029"/>
            </a:avLst>
          </a:prstGeom>
          <a:solidFill>
            <a:srgbClr val="84E2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Health Parameters</a:t>
            </a:r>
          </a:p>
        </p:txBody>
      </p:sp>
      <p:sp>
        <p:nvSpPr>
          <p:cNvPr id="140" name="Rectangle: Rounded Corners 139">
            <a:extLst>
              <a:ext uri="{FF2B5EF4-FFF2-40B4-BE49-F238E27FC236}">
                <a16:creationId xmlns:a16="http://schemas.microsoft.com/office/drawing/2014/main" id="{9A9B3171-672F-3855-C9AC-CD77801351AE}"/>
              </a:ext>
            </a:extLst>
          </p:cNvPr>
          <p:cNvSpPr/>
          <p:nvPr/>
        </p:nvSpPr>
        <p:spPr>
          <a:xfrm>
            <a:off x="3277758" y="2816608"/>
            <a:ext cx="1440000" cy="720000"/>
          </a:xfrm>
          <a:prstGeom prst="roundRect">
            <a:avLst>
              <a:gd name="adj" fmla="val 50000"/>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Reports (Scan)</a:t>
            </a:r>
            <a:endParaRPr lang="en-IN" sz="1600" dirty="0">
              <a:solidFill>
                <a:schemeClr val="bg1"/>
              </a:solidFill>
            </a:endParaRPr>
          </a:p>
        </p:txBody>
      </p:sp>
      <p:cxnSp>
        <p:nvCxnSpPr>
          <p:cNvPr id="141" name="Straight Connector 140">
            <a:extLst>
              <a:ext uri="{FF2B5EF4-FFF2-40B4-BE49-F238E27FC236}">
                <a16:creationId xmlns:a16="http://schemas.microsoft.com/office/drawing/2014/main" id="{83738FE6-E52D-5A95-4CAF-31B7061E0C4C}"/>
              </a:ext>
            </a:extLst>
          </p:cNvPr>
          <p:cNvCxnSpPr>
            <a:stCxn id="140" idx="2"/>
            <a:endCxn id="139" idx="0"/>
          </p:cNvCxnSpPr>
          <p:nvPr/>
        </p:nvCxnSpPr>
        <p:spPr>
          <a:xfrm>
            <a:off x="3997758" y="3536608"/>
            <a:ext cx="9279" cy="595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ECDC2E4F-EF96-1685-D04D-4C879B28EFA0}"/>
              </a:ext>
            </a:extLst>
          </p:cNvPr>
          <p:cNvCxnSpPr>
            <a:cxnSpLocks/>
            <a:stCxn id="139" idx="2"/>
            <a:endCxn id="138" idx="0"/>
          </p:cNvCxnSpPr>
          <p:nvPr/>
        </p:nvCxnSpPr>
        <p:spPr>
          <a:xfrm>
            <a:off x="4007037" y="4852000"/>
            <a:ext cx="1" cy="7218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B054FF14-6333-B49F-846D-BC9DC4148762}"/>
              </a:ext>
            </a:extLst>
          </p:cNvPr>
          <p:cNvCxnSpPr>
            <a:cxnSpLocks/>
            <a:stCxn id="6" idx="2"/>
            <a:endCxn id="29" idx="0"/>
          </p:cNvCxnSpPr>
          <p:nvPr/>
        </p:nvCxnSpPr>
        <p:spPr>
          <a:xfrm>
            <a:off x="1945502" y="2130176"/>
            <a:ext cx="3153" cy="7437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B765387B-F94A-2E0D-C75B-FB4A283C7D4B}"/>
              </a:ext>
            </a:extLst>
          </p:cNvPr>
          <p:cNvCxnSpPr>
            <a:cxnSpLocks/>
            <a:stCxn id="8" idx="2"/>
            <a:endCxn id="140" idx="0"/>
          </p:cNvCxnSpPr>
          <p:nvPr/>
        </p:nvCxnSpPr>
        <p:spPr>
          <a:xfrm flipH="1">
            <a:off x="3997758" y="2130176"/>
            <a:ext cx="2374" cy="686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16E554F5-C88D-2F12-5A91-0031754D17D4}"/>
              </a:ext>
            </a:extLst>
          </p:cNvPr>
          <p:cNvCxnSpPr>
            <a:cxnSpLocks/>
          </p:cNvCxnSpPr>
          <p:nvPr/>
        </p:nvCxnSpPr>
        <p:spPr>
          <a:xfrm>
            <a:off x="5201285" y="2723949"/>
            <a:ext cx="9279" cy="3267200"/>
          </a:xfrm>
          <a:prstGeom prst="line">
            <a:avLst/>
          </a:prstGeom>
        </p:spPr>
        <p:style>
          <a:lnRef idx="1">
            <a:schemeClr val="dk1"/>
          </a:lnRef>
          <a:fillRef idx="0">
            <a:schemeClr val="dk1"/>
          </a:fillRef>
          <a:effectRef idx="0">
            <a:schemeClr val="dk1"/>
          </a:effectRef>
          <a:fontRef idx="minor">
            <a:schemeClr val="tx1"/>
          </a:fontRef>
        </p:style>
      </p:cxnSp>
      <p:grpSp>
        <p:nvGrpSpPr>
          <p:cNvPr id="155" name="Group 154">
            <a:extLst>
              <a:ext uri="{FF2B5EF4-FFF2-40B4-BE49-F238E27FC236}">
                <a16:creationId xmlns:a16="http://schemas.microsoft.com/office/drawing/2014/main" id="{E5BDA659-08BA-BBFF-6E81-802CC47CD55C}"/>
              </a:ext>
            </a:extLst>
          </p:cNvPr>
          <p:cNvGrpSpPr/>
          <p:nvPr/>
        </p:nvGrpSpPr>
        <p:grpSpPr>
          <a:xfrm>
            <a:off x="5670314" y="2238825"/>
            <a:ext cx="6449723" cy="4448684"/>
            <a:chOff x="6779504" y="2793992"/>
            <a:chExt cx="4887007" cy="3835283"/>
          </a:xfrm>
        </p:grpSpPr>
        <p:sp>
          <p:nvSpPr>
            <p:cNvPr id="152" name="Rectangle: Rounded Corners 151">
              <a:extLst>
                <a:ext uri="{FF2B5EF4-FFF2-40B4-BE49-F238E27FC236}">
                  <a16:creationId xmlns:a16="http://schemas.microsoft.com/office/drawing/2014/main" id="{572F009E-2355-AA74-C0CF-4DFA197BE2A8}"/>
                </a:ext>
              </a:extLst>
            </p:cNvPr>
            <p:cNvSpPr/>
            <p:nvPr/>
          </p:nvSpPr>
          <p:spPr>
            <a:xfrm>
              <a:off x="6779504" y="2793992"/>
              <a:ext cx="4887007" cy="3482894"/>
            </a:xfrm>
            <a:prstGeom prst="roundRect">
              <a:avLst>
                <a:gd name="adj" fmla="val 0"/>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sz="1200" dirty="0">
                  <a:solidFill>
                    <a:schemeClr val="bg1"/>
                  </a:solidFill>
                </a:rPr>
                <a:t>In PoC</a:t>
              </a:r>
            </a:p>
          </p:txBody>
        </p:sp>
        <p:sp>
          <p:nvSpPr>
            <p:cNvPr id="154" name="TextBox 153">
              <a:extLst>
                <a:ext uri="{FF2B5EF4-FFF2-40B4-BE49-F238E27FC236}">
                  <a16:creationId xmlns:a16="http://schemas.microsoft.com/office/drawing/2014/main" id="{754F9D2D-962C-51A9-6482-AA90E241D14D}"/>
                </a:ext>
              </a:extLst>
            </p:cNvPr>
            <p:cNvSpPr txBox="1"/>
            <p:nvPr/>
          </p:nvSpPr>
          <p:spPr>
            <a:xfrm>
              <a:off x="6845130" y="2834924"/>
              <a:ext cx="4714811" cy="3794351"/>
            </a:xfrm>
            <a:prstGeom prst="rect">
              <a:avLst/>
            </a:prstGeom>
            <a:noFill/>
          </p:spPr>
          <p:txBody>
            <a:bodyPr wrap="square" rtlCol="0">
              <a:spAutoFit/>
            </a:bodyPr>
            <a:lstStyle/>
            <a:p>
              <a:r>
                <a:rPr lang="en-IN" sz="1600" b="1" dirty="0"/>
                <a:t>Technology Used – Identify User</a:t>
              </a:r>
            </a:p>
            <a:p>
              <a:endParaRPr lang="en-IN" sz="400" b="1" dirty="0"/>
            </a:p>
            <a:p>
              <a:pPr marL="285750" indent="-285750">
                <a:buFont typeface="Arial" panose="020B0604020202020204" pitchFamily="34" charset="0"/>
                <a:buChar char="•"/>
              </a:pPr>
              <a:r>
                <a:rPr lang="en-IN" sz="1600" dirty="0"/>
                <a:t>QR Code Scanner: OpenCV library is used to extract details, such as name and </a:t>
              </a:r>
              <a:r>
                <a:rPr lang="en-IN" sz="1600" dirty="0" err="1"/>
                <a:t>DoB</a:t>
              </a:r>
              <a:r>
                <a:rPr lang="en-IN" sz="1600" dirty="0"/>
                <a:t>.</a:t>
              </a:r>
            </a:p>
            <a:p>
              <a:pPr marL="285750" indent="-285750">
                <a:buFont typeface="Arial" panose="020B0604020202020204" pitchFamily="34" charset="0"/>
                <a:buChar char="•"/>
              </a:pPr>
              <a:r>
                <a:rPr lang="en-IN" sz="1600" dirty="0"/>
                <a:t>Fingerprint scanner: Adafruit library is used to capture fingerprint data. The information collected from the QR code and biometric info will be sent to a server for validation.</a:t>
              </a:r>
            </a:p>
            <a:p>
              <a:pPr marL="285750" indent="-285750">
                <a:buFont typeface="Arial" panose="020B0604020202020204" pitchFamily="34" charset="0"/>
                <a:buChar char="•"/>
              </a:pPr>
              <a:r>
                <a:rPr lang="en-IN" sz="1600" dirty="0"/>
                <a:t>JSON: After the user info is validated, the user detail is stored as a JSON file in a cloud DB.</a:t>
              </a:r>
            </a:p>
            <a:p>
              <a:endParaRPr lang="en-IN" sz="1600" dirty="0"/>
            </a:p>
            <a:p>
              <a:r>
                <a:rPr lang="en-IN" sz="1600" b="1" dirty="0"/>
                <a:t>Technology Used – Capture Health Data</a:t>
              </a:r>
            </a:p>
            <a:p>
              <a:endParaRPr lang="en-IN" sz="400" b="1" dirty="0"/>
            </a:p>
            <a:p>
              <a:pPr marL="285750" indent="-285750">
                <a:buFont typeface="Arial" panose="020B0604020202020204" pitchFamily="34" charset="0"/>
                <a:buChar char="•"/>
              </a:pPr>
              <a:r>
                <a:rPr lang="en-IN" sz="1600" dirty="0"/>
                <a:t>Camera: OpenCV is used to capture a photograph. </a:t>
              </a:r>
              <a:r>
                <a:rPr lang="en-IN" sz="1600" dirty="0" err="1"/>
                <a:t>EasyOCR</a:t>
              </a:r>
              <a:r>
                <a:rPr lang="en-IN" sz="1600" dirty="0"/>
                <a:t> library is used to identify text and extract it.</a:t>
              </a:r>
            </a:p>
            <a:p>
              <a:pPr marL="285750" indent="-285750">
                <a:buFont typeface="Arial" panose="020B0604020202020204" pitchFamily="34" charset="0"/>
                <a:buChar char="•"/>
              </a:pPr>
              <a:r>
                <a:rPr lang="en-IN" sz="1600" dirty="0" err="1"/>
                <a:t>smbus</a:t>
              </a:r>
              <a:r>
                <a:rPr lang="en-IN" sz="1600" dirty="0"/>
                <a:t>: </a:t>
              </a:r>
              <a:r>
                <a:rPr lang="en-IN" sz="1600" dirty="0" err="1"/>
                <a:t>smbus</a:t>
              </a:r>
              <a:r>
                <a:rPr lang="en-IN" sz="1600" dirty="0"/>
                <a:t> python library is used to capture sensor information.</a:t>
              </a:r>
            </a:p>
            <a:p>
              <a:pPr marL="285750" indent="-285750">
                <a:buFont typeface="Arial" panose="020B0604020202020204" pitchFamily="34" charset="0"/>
                <a:buChar char="•"/>
              </a:pPr>
              <a:r>
                <a:rPr lang="en-IN" sz="1600" dirty="0"/>
                <a:t>JSON: The captured details are added to the patient’s report.</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endParaRPr lang="en-IN" sz="1600" dirty="0"/>
            </a:p>
          </p:txBody>
        </p:sp>
      </p:grpSp>
    </p:spTree>
    <p:extLst>
      <p:ext uri="{BB962C8B-B14F-4D97-AF65-F5344CB8AC3E}">
        <p14:creationId xmlns:p14="http://schemas.microsoft.com/office/powerpoint/2010/main" val="2612748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945DF-3903-A198-2628-18699FC80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BBD7B1-CDCD-C381-234D-AAF917EEE97D}"/>
              </a:ext>
            </a:extLst>
          </p:cNvPr>
          <p:cNvSpPr>
            <a:spLocks noGrp="1"/>
          </p:cNvSpPr>
          <p:nvPr>
            <p:ph type="title"/>
          </p:nvPr>
        </p:nvSpPr>
        <p:spPr>
          <a:xfrm>
            <a:off x="0" y="0"/>
            <a:ext cx="10515600" cy="1325563"/>
          </a:xfrm>
        </p:spPr>
        <p:txBody>
          <a:bodyPr/>
          <a:lstStyle/>
          <a:p>
            <a:r>
              <a:rPr lang="en-US" dirty="0">
                <a:latin typeface="+mj-lt"/>
              </a:rPr>
              <a:t> Workflow - Breakup</a:t>
            </a:r>
            <a:endParaRPr lang="en-IN" dirty="0">
              <a:latin typeface="+mj-lt"/>
            </a:endParaRPr>
          </a:p>
        </p:txBody>
      </p:sp>
      <p:sp>
        <p:nvSpPr>
          <p:cNvPr id="19" name="Rectangle: Rounded Corners 18">
            <a:extLst>
              <a:ext uri="{FF2B5EF4-FFF2-40B4-BE49-F238E27FC236}">
                <a16:creationId xmlns:a16="http://schemas.microsoft.com/office/drawing/2014/main" id="{B1849E46-075A-854F-F7CD-2AD0A1CA3EE1}"/>
              </a:ext>
            </a:extLst>
          </p:cNvPr>
          <p:cNvSpPr/>
          <p:nvPr/>
        </p:nvSpPr>
        <p:spPr>
          <a:xfrm>
            <a:off x="4438335" y="5958406"/>
            <a:ext cx="1440000" cy="7200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Capture Details</a:t>
            </a:r>
          </a:p>
        </p:txBody>
      </p:sp>
      <p:sp>
        <p:nvSpPr>
          <p:cNvPr id="23" name="Rectangle: Rounded Corners 22">
            <a:extLst>
              <a:ext uri="{FF2B5EF4-FFF2-40B4-BE49-F238E27FC236}">
                <a16:creationId xmlns:a16="http://schemas.microsoft.com/office/drawing/2014/main" id="{BD95D7DF-15B5-9066-C12A-FC6ED7D4D823}"/>
              </a:ext>
            </a:extLst>
          </p:cNvPr>
          <p:cNvSpPr/>
          <p:nvPr/>
        </p:nvSpPr>
        <p:spPr>
          <a:xfrm>
            <a:off x="4438334" y="4940092"/>
            <a:ext cx="1440000" cy="720000"/>
          </a:xfrm>
          <a:prstGeom prst="roundRect">
            <a:avLst>
              <a:gd name="adj" fmla="val 42029"/>
            </a:avLst>
          </a:prstGeom>
          <a:solidFill>
            <a:srgbClr val="84E2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Transcribe to Text</a:t>
            </a:r>
          </a:p>
        </p:txBody>
      </p:sp>
      <p:sp>
        <p:nvSpPr>
          <p:cNvPr id="29" name="Rectangle: Rounded Corners 28">
            <a:extLst>
              <a:ext uri="{FF2B5EF4-FFF2-40B4-BE49-F238E27FC236}">
                <a16:creationId xmlns:a16="http://schemas.microsoft.com/office/drawing/2014/main" id="{347AACC2-FD24-5AB9-D52B-DD6079262D07}"/>
              </a:ext>
            </a:extLst>
          </p:cNvPr>
          <p:cNvSpPr/>
          <p:nvPr/>
        </p:nvSpPr>
        <p:spPr>
          <a:xfrm>
            <a:off x="4429055" y="2681423"/>
            <a:ext cx="1440000" cy="7200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Language Model</a:t>
            </a:r>
          </a:p>
        </p:txBody>
      </p:sp>
      <p:sp>
        <p:nvSpPr>
          <p:cNvPr id="31" name="Rectangle: Rounded Corners 30">
            <a:extLst>
              <a:ext uri="{FF2B5EF4-FFF2-40B4-BE49-F238E27FC236}">
                <a16:creationId xmlns:a16="http://schemas.microsoft.com/office/drawing/2014/main" id="{6994DFFA-7ABD-3C8F-B4F9-8272B8B9890C}"/>
              </a:ext>
            </a:extLst>
          </p:cNvPr>
          <p:cNvSpPr/>
          <p:nvPr/>
        </p:nvSpPr>
        <p:spPr>
          <a:xfrm>
            <a:off x="9696068" y="6458774"/>
            <a:ext cx="906994" cy="384956"/>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bg1"/>
                </a:solidFill>
              </a:rPr>
              <a:t>In PoC</a:t>
            </a:r>
          </a:p>
        </p:txBody>
      </p:sp>
      <p:grpSp>
        <p:nvGrpSpPr>
          <p:cNvPr id="130" name="Group 129">
            <a:extLst>
              <a:ext uri="{FF2B5EF4-FFF2-40B4-BE49-F238E27FC236}">
                <a16:creationId xmlns:a16="http://schemas.microsoft.com/office/drawing/2014/main" id="{01766CF9-D31F-2586-9542-2644350A8D14}"/>
              </a:ext>
            </a:extLst>
          </p:cNvPr>
          <p:cNvGrpSpPr/>
          <p:nvPr/>
        </p:nvGrpSpPr>
        <p:grpSpPr>
          <a:xfrm>
            <a:off x="177800" y="1414187"/>
            <a:ext cx="11774113" cy="726002"/>
            <a:chOff x="177800" y="1414187"/>
            <a:chExt cx="11774113" cy="726002"/>
          </a:xfrm>
        </p:grpSpPr>
        <p:sp>
          <p:nvSpPr>
            <p:cNvPr id="4" name="Rectangle: Rounded Corners 3">
              <a:extLst>
                <a:ext uri="{FF2B5EF4-FFF2-40B4-BE49-F238E27FC236}">
                  <a16:creationId xmlns:a16="http://schemas.microsoft.com/office/drawing/2014/main" id="{A2DE92EB-4D34-FB9C-CF48-29C2B3BCAD44}"/>
                </a:ext>
              </a:extLst>
            </p:cNvPr>
            <p:cNvSpPr/>
            <p:nvPr/>
          </p:nvSpPr>
          <p:spPr>
            <a:xfrm>
              <a:off x="177800" y="1441101"/>
              <a:ext cx="1002385" cy="665727"/>
            </a:xfrm>
            <a:prstGeom prst="roundRect">
              <a:avLst>
                <a:gd name="adj" fmla="val 42029"/>
              </a:avLst>
            </a:prstGeom>
            <a:solidFill>
              <a:schemeClr val="bg1">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Booth Entry</a:t>
              </a:r>
            </a:p>
          </p:txBody>
        </p:sp>
        <p:sp>
          <p:nvSpPr>
            <p:cNvPr id="6" name="Rectangle: Rounded Corners 5">
              <a:extLst>
                <a:ext uri="{FF2B5EF4-FFF2-40B4-BE49-F238E27FC236}">
                  <a16:creationId xmlns:a16="http://schemas.microsoft.com/office/drawing/2014/main" id="{94128826-2C6D-6AF8-B45B-D5440CC7FD48}"/>
                </a:ext>
              </a:extLst>
            </p:cNvPr>
            <p:cNvSpPr/>
            <p:nvPr/>
          </p:nvSpPr>
          <p:spPr>
            <a:xfrm>
              <a:off x="1444309" y="1414187"/>
              <a:ext cx="1002385" cy="715989"/>
            </a:xfrm>
            <a:prstGeom prst="roundRect">
              <a:avLst>
                <a:gd name="adj" fmla="val 42029"/>
              </a:avLst>
            </a:prstGeom>
            <a:solidFill>
              <a:srgbClr val="BFBF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Identify User</a:t>
              </a:r>
            </a:p>
          </p:txBody>
        </p:sp>
        <p:sp>
          <p:nvSpPr>
            <p:cNvPr id="8" name="Rectangle: Rounded Corners 7">
              <a:extLst>
                <a:ext uri="{FF2B5EF4-FFF2-40B4-BE49-F238E27FC236}">
                  <a16:creationId xmlns:a16="http://schemas.microsoft.com/office/drawing/2014/main" id="{0066085E-D1FB-62B1-055B-206CA8CD5B91}"/>
                </a:ext>
              </a:extLst>
            </p:cNvPr>
            <p:cNvSpPr/>
            <p:nvPr/>
          </p:nvSpPr>
          <p:spPr>
            <a:xfrm>
              <a:off x="2700508" y="1414187"/>
              <a:ext cx="1329248" cy="715989"/>
            </a:xfrm>
            <a:prstGeom prst="roundRect">
              <a:avLst>
                <a:gd name="adj" fmla="val 42029"/>
              </a:avLst>
            </a:prstGeom>
            <a:solidFill>
              <a:srgbClr val="BFBF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Capture Health Data</a:t>
              </a:r>
            </a:p>
          </p:txBody>
        </p:sp>
        <p:sp>
          <p:nvSpPr>
            <p:cNvPr id="9" name="Rectangle: Rounded Corners 8">
              <a:extLst>
                <a:ext uri="{FF2B5EF4-FFF2-40B4-BE49-F238E27FC236}">
                  <a16:creationId xmlns:a16="http://schemas.microsoft.com/office/drawing/2014/main" id="{668201EA-14E5-40AD-9925-D60C685DBB5E}"/>
                </a:ext>
              </a:extLst>
            </p:cNvPr>
            <p:cNvSpPr/>
            <p:nvPr/>
          </p:nvSpPr>
          <p:spPr>
            <a:xfrm>
              <a:off x="4650802" y="1414187"/>
              <a:ext cx="1002385" cy="715989"/>
            </a:xfrm>
            <a:prstGeom prst="roundRect">
              <a:avLst>
                <a:gd name="adj" fmla="val 42029"/>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Q&amp;A</a:t>
              </a:r>
            </a:p>
          </p:txBody>
        </p:sp>
        <p:sp>
          <p:nvSpPr>
            <p:cNvPr id="10" name="Rectangle: Rounded Corners 9">
              <a:extLst>
                <a:ext uri="{FF2B5EF4-FFF2-40B4-BE49-F238E27FC236}">
                  <a16:creationId xmlns:a16="http://schemas.microsoft.com/office/drawing/2014/main" id="{C71948E4-9D2A-3645-30C5-E9C90FFF82A0}"/>
                </a:ext>
              </a:extLst>
            </p:cNvPr>
            <p:cNvSpPr/>
            <p:nvPr/>
          </p:nvSpPr>
          <p:spPr>
            <a:xfrm>
              <a:off x="6699059" y="1415701"/>
              <a:ext cx="1195001" cy="715989"/>
            </a:xfrm>
            <a:prstGeom prst="roundRect">
              <a:avLst>
                <a:gd name="adj" fmla="val 42029"/>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Diagnosis &amp; Advice</a:t>
              </a:r>
            </a:p>
          </p:txBody>
        </p:sp>
        <p:sp>
          <p:nvSpPr>
            <p:cNvPr id="11" name="Rectangle: Rounded Corners 10">
              <a:extLst>
                <a:ext uri="{FF2B5EF4-FFF2-40B4-BE49-F238E27FC236}">
                  <a16:creationId xmlns:a16="http://schemas.microsoft.com/office/drawing/2014/main" id="{2BA747DA-037B-DAFD-E186-6CB5CB60FCF7}"/>
                </a:ext>
              </a:extLst>
            </p:cNvPr>
            <p:cNvSpPr/>
            <p:nvPr/>
          </p:nvSpPr>
          <p:spPr>
            <a:xfrm>
              <a:off x="8139495" y="1424200"/>
              <a:ext cx="1195001" cy="715989"/>
            </a:xfrm>
            <a:prstGeom prst="roundRect">
              <a:avLst>
                <a:gd name="adj" fmla="val 42029"/>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Review by Doctor</a:t>
              </a:r>
            </a:p>
          </p:txBody>
        </p:sp>
        <p:sp>
          <p:nvSpPr>
            <p:cNvPr id="12" name="Rectangle: Rounded Corners 11">
              <a:extLst>
                <a:ext uri="{FF2B5EF4-FFF2-40B4-BE49-F238E27FC236}">
                  <a16:creationId xmlns:a16="http://schemas.microsoft.com/office/drawing/2014/main" id="{2A994E08-4E20-C2B1-3B24-EDD19BC163BD}"/>
                </a:ext>
              </a:extLst>
            </p:cNvPr>
            <p:cNvSpPr/>
            <p:nvPr/>
          </p:nvSpPr>
          <p:spPr>
            <a:xfrm>
              <a:off x="9554730" y="1424200"/>
              <a:ext cx="1189670" cy="715989"/>
            </a:xfrm>
            <a:prstGeom prst="roundRect">
              <a:avLst>
                <a:gd name="adj" fmla="val 42029"/>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Dispense Medicine</a:t>
              </a:r>
            </a:p>
          </p:txBody>
        </p:sp>
        <p:cxnSp>
          <p:nvCxnSpPr>
            <p:cNvPr id="14" name="Straight Arrow Connector 13">
              <a:extLst>
                <a:ext uri="{FF2B5EF4-FFF2-40B4-BE49-F238E27FC236}">
                  <a16:creationId xmlns:a16="http://schemas.microsoft.com/office/drawing/2014/main" id="{E3AEC58B-7A70-E3C6-99E8-BA4B3ADD4E62}"/>
                </a:ext>
              </a:extLst>
            </p:cNvPr>
            <p:cNvCxnSpPr>
              <a:cxnSpLocks/>
              <a:stCxn id="4" idx="3"/>
              <a:endCxn id="6" idx="1"/>
            </p:cNvCxnSpPr>
            <p:nvPr/>
          </p:nvCxnSpPr>
          <p:spPr>
            <a:xfrm flipV="1">
              <a:off x="1180185" y="1772182"/>
              <a:ext cx="264124" cy="1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70DC3D6-C41D-F2F3-6E92-F2B8A7295766}"/>
                </a:ext>
              </a:extLst>
            </p:cNvPr>
            <p:cNvCxnSpPr>
              <a:cxnSpLocks/>
              <a:stCxn id="6" idx="3"/>
              <a:endCxn id="8" idx="1"/>
            </p:cNvCxnSpPr>
            <p:nvPr/>
          </p:nvCxnSpPr>
          <p:spPr>
            <a:xfrm>
              <a:off x="2446694" y="1772182"/>
              <a:ext cx="253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4E5209A-1220-5F61-707A-4A41BB8E765D}"/>
                </a:ext>
              </a:extLst>
            </p:cNvPr>
            <p:cNvCxnSpPr>
              <a:cxnSpLocks/>
              <a:stCxn id="8" idx="3"/>
              <a:endCxn id="9" idx="1"/>
            </p:cNvCxnSpPr>
            <p:nvPr/>
          </p:nvCxnSpPr>
          <p:spPr>
            <a:xfrm>
              <a:off x="4029756" y="1772182"/>
              <a:ext cx="6210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7A851BF-699E-C07A-7DE6-C9EB5E44C67E}"/>
                </a:ext>
              </a:extLst>
            </p:cNvPr>
            <p:cNvCxnSpPr>
              <a:cxnSpLocks/>
              <a:stCxn id="9" idx="3"/>
              <a:endCxn id="10" idx="1"/>
            </p:cNvCxnSpPr>
            <p:nvPr/>
          </p:nvCxnSpPr>
          <p:spPr>
            <a:xfrm>
              <a:off x="5653187" y="1772182"/>
              <a:ext cx="1045872" cy="1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52C03EB-A835-6168-9B14-8829474369DD}"/>
                </a:ext>
              </a:extLst>
            </p:cNvPr>
            <p:cNvCxnSpPr>
              <a:cxnSpLocks/>
              <a:stCxn id="10" idx="3"/>
              <a:endCxn id="11" idx="1"/>
            </p:cNvCxnSpPr>
            <p:nvPr/>
          </p:nvCxnSpPr>
          <p:spPr>
            <a:xfrm>
              <a:off x="7894060" y="1773696"/>
              <a:ext cx="245435" cy="8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628C2E4-FD97-E11C-C5DD-030B6ED0FF8C}"/>
                </a:ext>
              </a:extLst>
            </p:cNvPr>
            <p:cNvCxnSpPr>
              <a:cxnSpLocks/>
              <a:stCxn id="11" idx="3"/>
              <a:endCxn id="12" idx="1"/>
            </p:cNvCxnSpPr>
            <p:nvPr/>
          </p:nvCxnSpPr>
          <p:spPr>
            <a:xfrm>
              <a:off x="9334496" y="1782195"/>
              <a:ext cx="2202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2D44A2E7-D795-AC23-4900-747489A58BFB}"/>
                </a:ext>
              </a:extLst>
            </p:cNvPr>
            <p:cNvSpPr/>
            <p:nvPr/>
          </p:nvSpPr>
          <p:spPr>
            <a:xfrm>
              <a:off x="10949528" y="1440563"/>
              <a:ext cx="1002385" cy="665727"/>
            </a:xfrm>
            <a:prstGeom prst="roundRect">
              <a:avLst>
                <a:gd name="adj" fmla="val 42029"/>
              </a:avLst>
            </a:prstGeom>
            <a:solidFill>
              <a:schemeClr val="bg1">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Booth Exit</a:t>
              </a:r>
            </a:p>
          </p:txBody>
        </p:sp>
        <p:cxnSp>
          <p:nvCxnSpPr>
            <p:cNvPr id="26" name="Straight Arrow Connector 25">
              <a:extLst>
                <a:ext uri="{FF2B5EF4-FFF2-40B4-BE49-F238E27FC236}">
                  <a16:creationId xmlns:a16="http://schemas.microsoft.com/office/drawing/2014/main" id="{C1EDA087-CF98-13B2-DECB-3187F6B71E69}"/>
                </a:ext>
              </a:extLst>
            </p:cNvPr>
            <p:cNvCxnSpPr>
              <a:cxnSpLocks/>
              <a:stCxn id="12" idx="3"/>
              <a:endCxn id="24" idx="1"/>
            </p:cNvCxnSpPr>
            <p:nvPr/>
          </p:nvCxnSpPr>
          <p:spPr>
            <a:xfrm flipV="1">
              <a:off x="10744400" y="1773427"/>
              <a:ext cx="205128" cy="8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2" name="Rectangle: Rounded Corners 131">
            <a:extLst>
              <a:ext uri="{FF2B5EF4-FFF2-40B4-BE49-F238E27FC236}">
                <a16:creationId xmlns:a16="http://schemas.microsoft.com/office/drawing/2014/main" id="{3ED074D4-39D1-AAB4-7CAF-34DCB3CF6BC1}"/>
              </a:ext>
            </a:extLst>
          </p:cNvPr>
          <p:cNvSpPr/>
          <p:nvPr/>
        </p:nvSpPr>
        <p:spPr>
          <a:xfrm>
            <a:off x="10898871" y="6458774"/>
            <a:ext cx="1103697" cy="399226"/>
          </a:xfrm>
          <a:prstGeom prst="roundRect">
            <a:avLst>
              <a:gd name="adj" fmla="val 42029"/>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bg1"/>
                </a:solidFill>
              </a:rPr>
              <a:t>Not In PoC</a:t>
            </a:r>
          </a:p>
        </p:txBody>
      </p:sp>
      <p:cxnSp>
        <p:nvCxnSpPr>
          <p:cNvPr id="134" name="Straight Connector 133">
            <a:extLst>
              <a:ext uri="{FF2B5EF4-FFF2-40B4-BE49-F238E27FC236}">
                <a16:creationId xmlns:a16="http://schemas.microsoft.com/office/drawing/2014/main" id="{BE03370F-1E86-068E-6CB2-24A3A03A6DD4}"/>
              </a:ext>
            </a:extLst>
          </p:cNvPr>
          <p:cNvCxnSpPr>
            <a:cxnSpLocks/>
            <a:stCxn id="29" idx="2"/>
            <a:endCxn id="131" idx="0"/>
          </p:cNvCxnSpPr>
          <p:nvPr/>
        </p:nvCxnSpPr>
        <p:spPr>
          <a:xfrm>
            <a:off x="5149055" y="3401423"/>
            <a:ext cx="9637" cy="4250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0C6917A-7FF3-068E-0A31-C5C61088F953}"/>
              </a:ext>
            </a:extLst>
          </p:cNvPr>
          <p:cNvCxnSpPr>
            <a:cxnSpLocks/>
            <a:stCxn id="23" idx="2"/>
            <a:endCxn id="19" idx="0"/>
          </p:cNvCxnSpPr>
          <p:nvPr/>
        </p:nvCxnSpPr>
        <p:spPr>
          <a:xfrm>
            <a:off x="5158334" y="5660092"/>
            <a:ext cx="1" cy="298314"/>
          </a:xfrm>
          <a:prstGeom prst="line">
            <a:avLst/>
          </a:prstGeom>
        </p:spPr>
        <p:style>
          <a:lnRef idx="1">
            <a:schemeClr val="accent1"/>
          </a:lnRef>
          <a:fillRef idx="0">
            <a:schemeClr val="accent1"/>
          </a:fillRef>
          <a:effectRef idx="0">
            <a:schemeClr val="accent1"/>
          </a:effectRef>
          <a:fontRef idx="minor">
            <a:schemeClr val="tx1"/>
          </a:fontRef>
        </p:style>
      </p:cxnSp>
      <p:sp>
        <p:nvSpPr>
          <p:cNvPr id="138" name="Rectangle: Rounded Corners 137">
            <a:extLst>
              <a:ext uri="{FF2B5EF4-FFF2-40B4-BE49-F238E27FC236}">
                <a16:creationId xmlns:a16="http://schemas.microsoft.com/office/drawing/2014/main" id="{31995CD8-7056-6963-53A6-2D00DD462434}"/>
              </a:ext>
            </a:extLst>
          </p:cNvPr>
          <p:cNvSpPr/>
          <p:nvPr/>
        </p:nvSpPr>
        <p:spPr>
          <a:xfrm>
            <a:off x="6589038" y="5573831"/>
            <a:ext cx="1440000" cy="7200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Diagnosis medication</a:t>
            </a:r>
          </a:p>
        </p:txBody>
      </p:sp>
      <p:sp>
        <p:nvSpPr>
          <p:cNvPr id="139" name="Rectangle: Rounded Corners 138">
            <a:extLst>
              <a:ext uri="{FF2B5EF4-FFF2-40B4-BE49-F238E27FC236}">
                <a16:creationId xmlns:a16="http://schemas.microsoft.com/office/drawing/2014/main" id="{C280356C-F013-546A-6B48-6D541E0184C2}"/>
              </a:ext>
            </a:extLst>
          </p:cNvPr>
          <p:cNvSpPr/>
          <p:nvPr/>
        </p:nvSpPr>
        <p:spPr>
          <a:xfrm>
            <a:off x="6589037" y="4132000"/>
            <a:ext cx="1440000" cy="720000"/>
          </a:xfrm>
          <a:prstGeom prst="roundRect">
            <a:avLst>
              <a:gd name="adj" fmla="val 42029"/>
            </a:avLst>
          </a:prstGeom>
          <a:solidFill>
            <a:srgbClr val="84E2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Diagnostic runs</a:t>
            </a:r>
          </a:p>
        </p:txBody>
      </p:sp>
      <p:sp>
        <p:nvSpPr>
          <p:cNvPr id="140" name="Rectangle: Rounded Corners 139">
            <a:extLst>
              <a:ext uri="{FF2B5EF4-FFF2-40B4-BE49-F238E27FC236}">
                <a16:creationId xmlns:a16="http://schemas.microsoft.com/office/drawing/2014/main" id="{3B3AE009-C1E0-786A-FEC6-D3563EF9258D}"/>
              </a:ext>
            </a:extLst>
          </p:cNvPr>
          <p:cNvSpPr/>
          <p:nvPr/>
        </p:nvSpPr>
        <p:spPr>
          <a:xfrm>
            <a:off x="6579758" y="2816608"/>
            <a:ext cx="1440000" cy="7200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AI LLM Model</a:t>
            </a:r>
          </a:p>
        </p:txBody>
      </p:sp>
      <p:cxnSp>
        <p:nvCxnSpPr>
          <p:cNvPr id="141" name="Straight Connector 140">
            <a:extLst>
              <a:ext uri="{FF2B5EF4-FFF2-40B4-BE49-F238E27FC236}">
                <a16:creationId xmlns:a16="http://schemas.microsoft.com/office/drawing/2014/main" id="{79BEC140-48D3-71BD-7B50-D820F9401A8F}"/>
              </a:ext>
            </a:extLst>
          </p:cNvPr>
          <p:cNvCxnSpPr>
            <a:stCxn id="140" idx="2"/>
            <a:endCxn id="139" idx="0"/>
          </p:cNvCxnSpPr>
          <p:nvPr/>
        </p:nvCxnSpPr>
        <p:spPr>
          <a:xfrm>
            <a:off x="7299758" y="3536608"/>
            <a:ext cx="9279" cy="595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ED4D6C30-2472-3737-329A-2FE53E42AF73}"/>
              </a:ext>
            </a:extLst>
          </p:cNvPr>
          <p:cNvCxnSpPr>
            <a:cxnSpLocks/>
            <a:stCxn id="139" idx="2"/>
            <a:endCxn id="138" idx="0"/>
          </p:cNvCxnSpPr>
          <p:nvPr/>
        </p:nvCxnSpPr>
        <p:spPr>
          <a:xfrm>
            <a:off x="7309037" y="4852000"/>
            <a:ext cx="1" cy="7218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FF70058-7A6F-DE91-2CB6-408F5CE394E8}"/>
              </a:ext>
            </a:extLst>
          </p:cNvPr>
          <p:cNvCxnSpPr>
            <a:cxnSpLocks/>
            <a:stCxn id="9" idx="2"/>
            <a:endCxn id="29" idx="0"/>
          </p:cNvCxnSpPr>
          <p:nvPr/>
        </p:nvCxnSpPr>
        <p:spPr>
          <a:xfrm flipH="1">
            <a:off x="5149055" y="2130176"/>
            <a:ext cx="2940" cy="5512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E95D21F7-E7DB-4590-B186-C8B7FE52B9B2}"/>
              </a:ext>
            </a:extLst>
          </p:cNvPr>
          <p:cNvCxnSpPr>
            <a:cxnSpLocks/>
            <a:stCxn id="10" idx="2"/>
            <a:endCxn id="140" idx="0"/>
          </p:cNvCxnSpPr>
          <p:nvPr/>
        </p:nvCxnSpPr>
        <p:spPr>
          <a:xfrm>
            <a:off x="7296560" y="2131690"/>
            <a:ext cx="3198" cy="684918"/>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468DFD4-6A2B-133E-32E9-FE76788912F6}"/>
              </a:ext>
            </a:extLst>
          </p:cNvPr>
          <p:cNvGrpSpPr/>
          <p:nvPr/>
        </p:nvGrpSpPr>
        <p:grpSpPr>
          <a:xfrm>
            <a:off x="8281425" y="2709526"/>
            <a:ext cx="3721140" cy="3444902"/>
            <a:chOff x="8281425" y="2621036"/>
            <a:chExt cx="3721140" cy="3444902"/>
          </a:xfrm>
        </p:grpSpPr>
        <p:cxnSp>
          <p:nvCxnSpPr>
            <p:cNvPr id="149" name="Straight Connector 148">
              <a:extLst>
                <a:ext uri="{FF2B5EF4-FFF2-40B4-BE49-F238E27FC236}">
                  <a16:creationId xmlns:a16="http://schemas.microsoft.com/office/drawing/2014/main" id="{84E41C80-6181-21FD-0DA3-45705416213E}"/>
                </a:ext>
              </a:extLst>
            </p:cNvPr>
            <p:cNvCxnSpPr>
              <a:cxnSpLocks/>
            </p:cNvCxnSpPr>
            <p:nvPr/>
          </p:nvCxnSpPr>
          <p:spPr>
            <a:xfrm>
              <a:off x="8281425" y="2664181"/>
              <a:ext cx="6038" cy="3401757"/>
            </a:xfrm>
            <a:prstGeom prst="line">
              <a:avLst/>
            </a:prstGeom>
          </p:spPr>
          <p:style>
            <a:lnRef idx="1">
              <a:schemeClr val="dk1"/>
            </a:lnRef>
            <a:fillRef idx="0">
              <a:schemeClr val="dk1"/>
            </a:fillRef>
            <a:effectRef idx="0">
              <a:schemeClr val="dk1"/>
            </a:effectRef>
            <a:fontRef idx="minor">
              <a:schemeClr val="tx1"/>
            </a:fontRef>
          </p:style>
        </p:cxnSp>
        <p:sp>
          <p:nvSpPr>
            <p:cNvPr id="152" name="Rectangle: Rounded Corners 151">
              <a:extLst>
                <a:ext uri="{FF2B5EF4-FFF2-40B4-BE49-F238E27FC236}">
                  <a16:creationId xmlns:a16="http://schemas.microsoft.com/office/drawing/2014/main" id="{00E1F4B9-15FA-A4D7-FB90-70731D239118}"/>
                </a:ext>
              </a:extLst>
            </p:cNvPr>
            <p:cNvSpPr/>
            <p:nvPr/>
          </p:nvSpPr>
          <p:spPr>
            <a:xfrm>
              <a:off x="8571416" y="2621036"/>
              <a:ext cx="3431149" cy="3367989"/>
            </a:xfrm>
            <a:prstGeom prst="roundRect">
              <a:avLst>
                <a:gd name="adj" fmla="val 0"/>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sz="1200" dirty="0">
                  <a:solidFill>
                    <a:schemeClr val="bg1"/>
                  </a:solidFill>
                </a:rPr>
                <a:t>In PoC</a:t>
              </a:r>
            </a:p>
          </p:txBody>
        </p:sp>
        <p:sp>
          <p:nvSpPr>
            <p:cNvPr id="154" name="TextBox 153">
              <a:extLst>
                <a:ext uri="{FF2B5EF4-FFF2-40B4-BE49-F238E27FC236}">
                  <a16:creationId xmlns:a16="http://schemas.microsoft.com/office/drawing/2014/main" id="{AD23D269-E40F-1AD4-4AB7-3AA74009912A}"/>
                </a:ext>
              </a:extLst>
            </p:cNvPr>
            <p:cNvSpPr txBox="1"/>
            <p:nvPr/>
          </p:nvSpPr>
          <p:spPr>
            <a:xfrm>
              <a:off x="8720570" y="2629050"/>
              <a:ext cx="3275957" cy="3293209"/>
            </a:xfrm>
            <a:prstGeom prst="rect">
              <a:avLst/>
            </a:prstGeom>
            <a:noFill/>
          </p:spPr>
          <p:txBody>
            <a:bodyPr wrap="square" rtlCol="0">
              <a:spAutoFit/>
            </a:bodyPr>
            <a:lstStyle/>
            <a:p>
              <a:r>
                <a:rPr lang="en-IN" sz="1600" b="1" dirty="0"/>
                <a:t>Technology Used – Diagnosis &amp; Advice</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Medi-phi &amp; </a:t>
              </a:r>
              <a:r>
                <a:rPr lang="en-IN" sz="1600" dirty="0" err="1"/>
                <a:t>Ollama</a:t>
              </a:r>
              <a:r>
                <a:rPr lang="en-IN" sz="1600" dirty="0"/>
                <a:t>: Medi-phi was used to process user data; </a:t>
              </a:r>
              <a:r>
                <a:rPr lang="en-IN" sz="1600" dirty="0" err="1"/>
                <a:t>Ollama</a:t>
              </a:r>
              <a:r>
                <a:rPr lang="en-IN" sz="1600" dirty="0"/>
                <a:t> is used to run that model locally. </a:t>
              </a:r>
            </a:p>
            <a:p>
              <a:pPr marL="285750" indent="-285750">
                <a:buFont typeface="Arial" panose="020B0604020202020204" pitchFamily="34" charset="0"/>
                <a:buChar char="•"/>
              </a:pPr>
              <a:r>
                <a:rPr lang="en-IN" sz="1600" dirty="0"/>
                <a:t>Request: Request library is used to send health data to the model.</a:t>
              </a:r>
            </a:p>
            <a:p>
              <a:pPr marL="285750" indent="-285750">
                <a:buFont typeface="Arial" panose="020B0604020202020204" pitchFamily="34" charset="0"/>
                <a:buChar char="•"/>
              </a:pPr>
              <a:r>
                <a:rPr lang="en-IN" sz="1600" dirty="0"/>
                <a:t>JSON: The model-generated diagnosis and medication is stored in the patient’s report.</a:t>
              </a:r>
            </a:p>
          </p:txBody>
        </p:sp>
      </p:grpSp>
      <p:grpSp>
        <p:nvGrpSpPr>
          <p:cNvPr id="60" name="Group 59">
            <a:extLst>
              <a:ext uri="{FF2B5EF4-FFF2-40B4-BE49-F238E27FC236}">
                <a16:creationId xmlns:a16="http://schemas.microsoft.com/office/drawing/2014/main" id="{C8998C24-745E-AFD9-4DAD-CD580EB5A008}"/>
              </a:ext>
            </a:extLst>
          </p:cNvPr>
          <p:cNvGrpSpPr/>
          <p:nvPr/>
        </p:nvGrpSpPr>
        <p:grpSpPr>
          <a:xfrm>
            <a:off x="513287" y="2695002"/>
            <a:ext cx="3546869" cy="3653833"/>
            <a:chOff x="6779504" y="2690120"/>
            <a:chExt cx="5501831" cy="3509311"/>
          </a:xfrm>
        </p:grpSpPr>
        <p:cxnSp>
          <p:nvCxnSpPr>
            <p:cNvPr id="61" name="Straight Connector 60">
              <a:extLst>
                <a:ext uri="{FF2B5EF4-FFF2-40B4-BE49-F238E27FC236}">
                  <a16:creationId xmlns:a16="http://schemas.microsoft.com/office/drawing/2014/main" id="{12961802-3A03-2C9F-C72C-0C0D1889314D}"/>
                </a:ext>
              </a:extLst>
            </p:cNvPr>
            <p:cNvCxnSpPr>
              <a:cxnSpLocks/>
            </p:cNvCxnSpPr>
            <p:nvPr/>
          </p:nvCxnSpPr>
          <p:spPr>
            <a:xfrm>
              <a:off x="12272056" y="2723949"/>
              <a:ext cx="9279" cy="3267200"/>
            </a:xfrm>
            <a:prstGeom prst="line">
              <a:avLst/>
            </a:prstGeom>
          </p:spPr>
          <p:style>
            <a:lnRef idx="1">
              <a:schemeClr val="dk1"/>
            </a:lnRef>
            <a:fillRef idx="0">
              <a:schemeClr val="dk1"/>
            </a:fillRef>
            <a:effectRef idx="0">
              <a:schemeClr val="dk1"/>
            </a:effectRef>
            <a:fontRef idx="minor">
              <a:schemeClr val="tx1"/>
            </a:fontRef>
          </p:style>
        </p:cxnSp>
        <p:grpSp>
          <p:nvGrpSpPr>
            <p:cNvPr id="62" name="Group 61">
              <a:extLst>
                <a:ext uri="{FF2B5EF4-FFF2-40B4-BE49-F238E27FC236}">
                  <a16:creationId xmlns:a16="http://schemas.microsoft.com/office/drawing/2014/main" id="{E4F70807-077E-3D78-90D5-089F46302ECA}"/>
                </a:ext>
              </a:extLst>
            </p:cNvPr>
            <p:cNvGrpSpPr/>
            <p:nvPr/>
          </p:nvGrpSpPr>
          <p:grpSpPr>
            <a:xfrm>
              <a:off x="6779504" y="2690120"/>
              <a:ext cx="4887007" cy="3509311"/>
              <a:chOff x="6779504" y="2690120"/>
              <a:chExt cx="4887007" cy="3509311"/>
            </a:xfrm>
          </p:grpSpPr>
          <p:sp>
            <p:nvSpPr>
              <p:cNvPr id="63" name="Rectangle: Rounded Corners 62">
                <a:extLst>
                  <a:ext uri="{FF2B5EF4-FFF2-40B4-BE49-F238E27FC236}">
                    <a16:creationId xmlns:a16="http://schemas.microsoft.com/office/drawing/2014/main" id="{95EB7B2E-473D-BD1D-37E8-AEADC68E9153}"/>
                  </a:ext>
                </a:extLst>
              </p:cNvPr>
              <p:cNvSpPr/>
              <p:nvPr/>
            </p:nvSpPr>
            <p:spPr>
              <a:xfrm>
                <a:off x="6779504" y="2690120"/>
                <a:ext cx="4887007" cy="3509311"/>
              </a:xfrm>
              <a:prstGeom prst="roundRect">
                <a:avLst>
                  <a:gd name="adj" fmla="val 0"/>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sz="1200" dirty="0">
                    <a:solidFill>
                      <a:schemeClr val="bg1"/>
                    </a:solidFill>
                  </a:rPr>
                  <a:t>In PoC</a:t>
                </a:r>
              </a:p>
            </p:txBody>
          </p:sp>
          <p:sp>
            <p:nvSpPr>
              <p:cNvPr id="129" name="TextBox 128">
                <a:extLst>
                  <a:ext uri="{FF2B5EF4-FFF2-40B4-BE49-F238E27FC236}">
                    <a16:creationId xmlns:a16="http://schemas.microsoft.com/office/drawing/2014/main" id="{B3E7820A-1FB7-307B-1AF0-6AE57487FB47}"/>
                  </a:ext>
                </a:extLst>
              </p:cNvPr>
              <p:cNvSpPr txBox="1"/>
              <p:nvPr/>
            </p:nvSpPr>
            <p:spPr>
              <a:xfrm>
                <a:off x="6845130" y="2738712"/>
                <a:ext cx="4714811" cy="3399428"/>
              </a:xfrm>
              <a:prstGeom prst="rect">
                <a:avLst/>
              </a:prstGeom>
              <a:noFill/>
            </p:spPr>
            <p:txBody>
              <a:bodyPr wrap="square" rtlCol="0">
                <a:spAutoFit/>
              </a:bodyPr>
              <a:lstStyle/>
              <a:p>
                <a:r>
                  <a:rPr lang="en-IN" sz="1600" b="1" dirty="0"/>
                  <a:t>Technology Used-Q&amp;A</a:t>
                </a:r>
              </a:p>
              <a:p>
                <a:endParaRPr lang="en-IN" sz="1600" dirty="0"/>
              </a:p>
              <a:p>
                <a:pPr marL="285750" indent="-285750">
                  <a:buFont typeface="Arial" panose="020B0604020202020204" pitchFamily="34" charset="0"/>
                  <a:buChar char="•"/>
                </a:pPr>
                <a:r>
                  <a:rPr lang="en-IN" sz="1600" dirty="0" err="1"/>
                  <a:t>Gtts</a:t>
                </a:r>
                <a:r>
                  <a:rPr lang="en-IN" sz="1600" dirty="0"/>
                  <a:t>: </a:t>
                </a:r>
                <a:r>
                  <a:rPr lang="en-IN" sz="1600" dirty="0" err="1"/>
                  <a:t>Gtts</a:t>
                </a:r>
                <a:r>
                  <a:rPr lang="en-IN" sz="1600" dirty="0"/>
                  <a:t> library is used to convert the questions into speech.</a:t>
                </a:r>
              </a:p>
              <a:p>
                <a:pPr marL="285750" indent="-285750">
                  <a:buFont typeface="Arial" panose="020B0604020202020204" pitchFamily="34" charset="0"/>
                  <a:buChar char="•"/>
                </a:pPr>
                <a:r>
                  <a:rPr lang="en-IN" sz="1600" dirty="0" err="1"/>
                  <a:t>Sounddevice</a:t>
                </a:r>
                <a:r>
                  <a:rPr lang="en-IN" sz="1600" dirty="0"/>
                  <a:t>: </a:t>
                </a:r>
                <a:r>
                  <a:rPr lang="en-IN" sz="1600" dirty="0" err="1"/>
                  <a:t>Sounddevice</a:t>
                </a:r>
                <a:r>
                  <a:rPr lang="en-IN" sz="1600" dirty="0"/>
                  <a:t> library is used to capture answers through a microphone.</a:t>
                </a:r>
              </a:p>
              <a:p>
                <a:pPr marL="285750" indent="-285750">
                  <a:buFont typeface="Arial" panose="020B0604020202020204" pitchFamily="34" charset="0"/>
                  <a:buChar char="•"/>
                </a:pPr>
                <a:r>
                  <a:rPr lang="en-IN" sz="1600" dirty="0"/>
                  <a:t>Genai: Genai library is used to transcribe audio files into English text.</a:t>
                </a:r>
              </a:p>
              <a:p>
                <a:pPr marL="285750" indent="-285750">
                  <a:buFont typeface="Arial" panose="020B0604020202020204" pitchFamily="34" charset="0"/>
                  <a:buChar char="•"/>
                </a:pPr>
                <a:r>
                  <a:rPr lang="en-IN" sz="1600" dirty="0"/>
                  <a:t>JSON: JSON library is used to store details. </a:t>
                </a:r>
              </a:p>
            </p:txBody>
          </p:sp>
        </p:grpSp>
      </p:grpSp>
      <p:sp>
        <p:nvSpPr>
          <p:cNvPr id="131" name="Rectangle: Rounded Corners 130">
            <a:extLst>
              <a:ext uri="{FF2B5EF4-FFF2-40B4-BE49-F238E27FC236}">
                <a16:creationId xmlns:a16="http://schemas.microsoft.com/office/drawing/2014/main" id="{15C40E28-47AB-CB22-4E39-B6972C244541}"/>
              </a:ext>
            </a:extLst>
          </p:cNvPr>
          <p:cNvSpPr/>
          <p:nvPr/>
        </p:nvSpPr>
        <p:spPr>
          <a:xfrm>
            <a:off x="4438692" y="3826435"/>
            <a:ext cx="1440000" cy="720000"/>
          </a:xfrm>
          <a:prstGeom prst="roundRect">
            <a:avLst>
              <a:gd name="adj" fmla="val 42029"/>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Dynamic Q</a:t>
            </a:r>
          </a:p>
        </p:txBody>
      </p:sp>
      <p:cxnSp>
        <p:nvCxnSpPr>
          <p:cNvPr id="136" name="Straight Connector 135">
            <a:extLst>
              <a:ext uri="{FF2B5EF4-FFF2-40B4-BE49-F238E27FC236}">
                <a16:creationId xmlns:a16="http://schemas.microsoft.com/office/drawing/2014/main" id="{EB8DD78B-CC63-5098-FD2F-09BA5C65EDCF}"/>
              </a:ext>
            </a:extLst>
          </p:cNvPr>
          <p:cNvCxnSpPr>
            <a:cxnSpLocks/>
            <a:stCxn id="131" idx="2"/>
            <a:endCxn id="23" idx="0"/>
          </p:cNvCxnSpPr>
          <p:nvPr/>
        </p:nvCxnSpPr>
        <p:spPr>
          <a:xfrm flipH="1">
            <a:off x="5158334" y="4546435"/>
            <a:ext cx="358" cy="39365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2306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F1B55-472A-93DE-FC67-7FEE715451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34017-60FE-DD64-2756-2416249DE4F8}"/>
              </a:ext>
            </a:extLst>
          </p:cNvPr>
          <p:cNvSpPr>
            <a:spLocks noGrp="1"/>
          </p:cNvSpPr>
          <p:nvPr>
            <p:ph type="title"/>
          </p:nvPr>
        </p:nvSpPr>
        <p:spPr>
          <a:xfrm>
            <a:off x="0" y="0"/>
            <a:ext cx="10515600" cy="1325563"/>
          </a:xfrm>
        </p:spPr>
        <p:txBody>
          <a:bodyPr/>
          <a:lstStyle/>
          <a:p>
            <a:r>
              <a:rPr lang="en-US" dirty="0">
                <a:latin typeface="+mj-lt"/>
              </a:rPr>
              <a:t> Workflow - Breakup</a:t>
            </a:r>
            <a:endParaRPr lang="en-IN" dirty="0">
              <a:latin typeface="+mj-lt"/>
            </a:endParaRPr>
          </a:p>
        </p:txBody>
      </p:sp>
      <p:sp>
        <p:nvSpPr>
          <p:cNvPr id="19" name="Rectangle: Rounded Corners 18">
            <a:extLst>
              <a:ext uri="{FF2B5EF4-FFF2-40B4-BE49-F238E27FC236}">
                <a16:creationId xmlns:a16="http://schemas.microsoft.com/office/drawing/2014/main" id="{A88EAB75-38B8-C45E-A8A4-C678E3893D0B}"/>
              </a:ext>
            </a:extLst>
          </p:cNvPr>
          <p:cNvSpPr/>
          <p:nvPr/>
        </p:nvSpPr>
        <p:spPr>
          <a:xfrm>
            <a:off x="6176765" y="5173503"/>
            <a:ext cx="1440000" cy="7200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Update medication</a:t>
            </a:r>
          </a:p>
        </p:txBody>
      </p:sp>
      <p:sp>
        <p:nvSpPr>
          <p:cNvPr id="23" name="Rectangle: Rounded Corners 22">
            <a:extLst>
              <a:ext uri="{FF2B5EF4-FFF2-40B4-BE49-F238E27FC236}">
                <a16:creationId xmlns:a16="http://schemas.microsoft.com/office/drawing/2014/main" id="{2EF2EF9D-9EB8-84A9-FDB1-1646AB07E2AF}"/>
              </a:ext>
            </a:extLst>
          </p:cNvPr>
          <p:cNvSpPr/>
          <p:nvPr/>
        </p:nvSpPr>
        <p:spPr>
          <a:xfrm>
            <a:off x="6176764" y="4074572"/>
            <a:ext cx="1440000" cy="720000"/>
          </a:xfrm>
          <a:prstGeom prst="roundRect">
            <a:avLst>
              <a:gd name="adj" fmla="val 42029"/>
            </a:avLst>
          </a:prstGeom>
          <a:solidFill>
            <a:srgbClr val="84E2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Accept or  Modify</a:t>
            </a:r>
          </a:p>
        </p:txBody>
      </p:sp>
      <p:sp>
        <p:nvSpPr>
          <p:cNvPr id="29" name="Rectangle: Rounded Corners 28">
            <a:extLst>
              <a:ext uri="{FF2B5EF4-FFF2-40B4-BE49-F238E27FC236}">
                <a16:creationId xmlns:a16="http://schemas.microsoft.com/office/drawing/2014/main" id="{7898080D-8B4E-F51E-22F5-A04A55F830FD}"/>
              </a:ext>
            </a:extLst>
          </p:cNvPr>
          <p:cNvSpPr/>
          <p:nvPr/>
        </p:nvSpPr>
        <p:spPr>
          <a:xfrm>
            <a:off x="6880155" y="2873926"/>
            <a:ext cx="1683804" cy="7200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Push review requests</a:t>
            </a:r>
          </a:p>
        </p:txBody>
      </p:sp>
      <p:sp>
        <p:nvSpPr>
          <p:cNvPr id="31" name="Rectangle: Rounded Corners 30">
            <a:extLst>
              <a:ext uri="{FF2B5EF4-FFF2-40B4-BE49-F238E27FC236}">
                <a16:creationId xmlns:a16="http://schemas.microsoft.com/office/drawing/2014/main" id="{DBCF2257-F4B6-20B9-66B5-0F67CDCBD1DF}"/>
              </a:ext>
            </a:extLst>
          </p:cNvPr>
          <p:cNvSpPr/>
          <p:nvPr/>
        </p:nvSpPr>
        <p:spPr>
          <a:xfrm>
            <a:off x="9885500" y="6458774"/>
            <a:ext cx="906994" cy="384956"/>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bg1"/>
                </a:solidFill>
              </a:rPr>
              <a:t>In PoC</a:t>
            </a:r>
          </a:p>
        </p:txBody>
      </p:sp>
      <p:grpSp>
        <p:nvGrpSpPr>
          <p:cNvPr id="130" name="Group 129">
            <a:extLst>
              <a:ext uri="{FF2B5EF4-FFF2-40B4-BE49-F238E27FC236}">
                <a16:creationId xmlns:a16="http://schemas.microsoft.com/office/drawing/2014/main" id="{5482482F-24BB-AE8D-AD92-E73B225A7608}"/>
              </a:ext>
            </a:extLst>
          </p:cNvPr>
          <p:cNvGrpSpPr/>
          <p:nvPr/>
        </p:nvGrpSpPr>
        <p:grpSpPr>
          <a:xfrm>
            <a:off x="177800" y="1414187"/>
            <a:ext cx="11888413" cy="726002"/>
            <a:chOff x="177800" y="1414187"/>
            <a:chExt cx="11888413" cy="726002"/>
          </a:xfrm>
        </p:grpSpPr>
        <p:sp>
          <p:nvSpPr>
            <p:cNvPr id="4" name="Rectangle: Rounded Corners 3">
              <a:extLst>
                <a:ext uri="{FF2B5EF4-FFF2-40B4-BE49-F238E27FC236}">
                  <a16:creationId xmlns:a16="http://schemas.microsoft.com/office/drawing/2014/main" id="{8A7329A8-E0FA-6437-8332-2273F7428EB4}"/>
                </a:ext>
              </a:extLst>
            </p:cNvPr>
            <p:cNvSpPr/>
            <p:nvPr/>
          </p:nvSpPr>
          <p:spPr>
            <a:xfrm>
              <a:off x="177800" y="1441101"/>
              <a:ext cx="1002385" cy="665727"/>
            </a:xfrm>
            <a:prstGeom prst="roundRect">
              <a:avLst>
                <a:gd name="adj" fmla="val 42029"/>
              </a:avLst>
            </a:prstGeom>
            <a:solidFill>
              <a:schemeClr val="bg1">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Booth Entry</a:t>
              </a:r>
            </a:p>
          </p:txBody>
        </p:sp>
        <p:sp>
          <p:nvSpPr>
            <p:cNvPr id="6" name="Rectangle: Rounded Corners 5">
              <a:extLst>
                <a:ext uri="{FF2B5EF4-FFF2-40B4-BE49-F238E27FC236}">
                  <a16:creationId xmlns:a16="http://schemas.microsoft.com/office/drawing/2014/main" id="{0835D8FD-B701-2B9C-779D-B3BE27EB3238}"/>
                </a:ext>
              </a:extLst>
            </p:cNvPr>
            <p:cNvSpPr/>
            <p:nvPr/>
          </p:nvSpPr>
          <p:spPr>
            <a:xfrm>
              <a:off x="1444309" y="1414187"/>
              <a:ext cx="1002385" cy="715989"/>
            </a:xfrm>
            <a:prstGeom prst="roundRect">
              <a:avLst>
                <a:gd name="adj" fmla="val 42029"/>
              </a:avLst>
            </a:prstGeom>
            <a:solidFill>
              <a:srgbClr val="BFBF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Identify User</a:t>
              </a:r>
            </a:p>
          </p:txBody>
        </p:sp>
        <p:sp>
          <p:nvSpPr>
            <p:cNvPr id="8" name="Rectangle: Rounded Corners 7">
              <a:extLst>
                <a:ext uri="{FF2B5EF4-FFF2-40B4-BE49-F238E27FC236}">
                  <a16:creationId xmlns:a16="http://schemas.microsoft.com/office/drawing/2014/main" id="{00939D8B-E7B0-EBAE-1346-D6CEA6F79FB0}"/>
                </a:ext>
              </a:extLst>
            </p:cNvPr>
            <p:cNvSpPr/>
            <p:nvPr/>
          </p:nvSpPr>
          <p:spPr>
            <a:xfrm>
              <a:off x="2700508" y="1414187"/>
              <a:ext cx="1329248" cy="715989"/>
            </a:xfrm>
            <a:prstGeom prst="roundRect">
              <a:avLst>
                <a:gd name="adj" fmla="val 42029"/>
              </a:avLst>
            </a:prstGeom>
            <a:solidFill>
              <a:srgbClr val="BFBF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Capture Health Data</a:t>
              </a:r>
            </a:p>
          </p:txBody>
        </p:sp>
        <p:sp>
          <p:nvSpPr>
            <p:cNvPr id="9" name="Rectangle: Rounded Corners 8">
              <a:extLst>
                <a:ext uri="{FF2B5EF4-FFF2-40B4-BE49-F238E27FC236}">
                  <a16:creationId xmlns:a16="http://schemas.microsoft.com/office/drawing/2014/main" id="{083D8E6F-B4F5-26AE-59FB-55B5C3E8B32F}"/>
                </a:ext>
              </a:extLst>
            </p:cNvPr>
            <p:cNvSpPr/>
            <p:nvPr/>
          </p:nvSpPr>
          <p:spPr>
            <a:xfrm>
              <a:off x="4263181" y="1414187"/>
              <a:ext cx="1002385" cy="715989"/>
            </a:xfrm>
            <a:prstGeom prst="roundRect">
              <a:avLst>
                <a:gd name="adj" fmla="val 42029"/>
              </a:avLst>
            </a:prstGeom>
            <a:solidFill>
              <a:srgbClr val="BFBF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Q&amp;A</a:t>
              </a:r>
            </a:p>
          </p:txBody>
        </p:sp>
        <p:sp>
          <p:nvSpPr>
            <p:cNvPr id="10" name="Rectangle: Rounded Corners 9">
              <a:extLst>
                <a:ext uri="{FF2B5EF4-FFF2-40B4-BE49-F238E27FC236}">
                  <a16:creationId xmlns:a16="http://schemas.microsoft.com/office/drawing/2014/main" id="{27897105-6AA5-1076-B2A5-F7A13C669834}"/>
                </a:ext>
              </a:extLst>
            </p:cNvPr>
            <p:cNvSpPr/>
            <p:nvPr/>
          </p:nvSpPr>
          <p:spPr>
            <a:xfrm>
              <a:off x="5506369" y="1415701"/>
              <a:ext cx="1195001" cy="715989"/>
            </a:xfrm>
            <a:prstGeom prst="roundRect">
              <a:avLst>
                <a:gd name="adj" fmla="val 42029"/>
              </a:avLst>
            </a:prstGeom>
            <a:solidFill>
              <a:srgbClr val="BFBF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Diagnosis &amp; Advice</a:t>
              </a:r>
            </a:p>
          </p:txBody>
        </p:sp>
        <p:sp>
          <p:nvSpPr>
            <p:cNvPr id="11" name="Rectangle: Rounded Corners 10">
              <a:extLst>
                <a:ext uri="{FF2B5EF4-FFF2-40B4-BE49-F238E27FC236}">
                  <a16:creationId xmlns:a16="http://schemas.microsoft.com/office/drawing/2014/main" id="{E97EDB81-B91D-3675-3A3D-9CCB95DAEA7E}"/>
                </a:ext>
              </a:extLst>
            </p:cNvPr>
            <p:cNvSpPr/>
            <p:nvPr/>
          </p:nvSpPr>
          <p:spPr>
            <a:xfrm>
              <a:off x="7125708" y="1424200"/>
              <a:ext cx="1195001" cy="715989"/>
            </a:xfrm>
            <a:prstGeom prst="roundRect">
              <a:avLst>
                <a:gd name="adj" fmla="val 42029"/>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Review by Doctor</a:t>
              </a:r>
            </a:p>
          </p:txBody>
        </p:sp>
        <p:sp>
          <p:nvSpPr>
            <p:cNvPr id="12" name="Rectangle: Rounded Corners 11">
              <a:extLst>
                <a:ext uri="{FF2B5EF4-FFF2-40B4-BE49-F238E27FC236}">
                  <a16:creationId xmlns:a16="http://schemas.microsoft.com/office/drawing/2014/main" id="{1A3A7AE8-5F0C-FBCA-DDED-3496A6EC5612}"/>
                </a:ext>
              </a:extLst>
            </p:cNvPr>
            <p:cNvSpPr/>
            <p:nvPr/>
          </p:nvSpPr>
          <p:spPr>
            <a:xfrm>
              <a:off x="9618230" y="1424200"/>
              <a:ext cx="1189670" cy="715989"/>
            </a:xfrm>
            <a:prstGeom prst="roundRect">
              <a:avLst>
                <a:gd name="adj" fmla="val 42029"/>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Dispense Medicine</a:t>
              </a:r>
            </a:p>
          </p:txBody>
        </p:sp>
        <p:cxnSp>
          <p:nvCxnSpPr>
            <p:cNvPr id="14" name="Straight Arrow Connector 13">
              <a:extLst>
                <a:ext uri="{FF2B5EF4-FFF2-40B4-BE49-F238E27FC236}">
                  <a16:creationId xmlns:a16="http://schemas.microsoft.com/office/drawing/2014/main" id="{8D372B06-D336-B587-CC36-1F669D256724}"/>
                </a:ext>
              </a:extLst>
            </p:cNvPr>
            <p:cNvCxnSpPr>
              <a:cxnSpLocks/>
              <a:stCxn id="4" idx="3"/>
              <a:endCxn id="6" idx="1"/>
            </p:cNvCxnSpPr>
            <p:nvPr/>
          </p:nvCxnSpPr>
          <p:spPr>
            <a:xfrm flipV="1">
              <a:off x="1180185" y="1772182"/>
              <a:ext cx="264124" cy="1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12C9073-EACA-6662-25A7-193C75FDB2F8}"/>
                </a:ext>
              </a:extLst>
            </p:cNvPr>
            <p:cNvCxnSpPr>
              <a:cxnSpLocks/>
              <a:stCxn id="6" idx="3"/>
              <a:endCxn id="8" idx="1"/>
            </p:cNvCxnSpPr>
            <p:nvPr/>
          </p:nvCxnSpPr>
          <p:spPr>
            <a:xfrm>
              <a:off x="2446694" y="1772182"/>
              <a:ext cx="253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5218590-5961-1E1B-9B9A-5B4DA22DA920}"/>
                </a:ext>
              </a:extLst>
            </p:cNvPr>
            <p:cNvCxnSpPr>
              <a:cxnSpLocks/>
              <a:stCxn id="8" idx="3"/>
              <a:endCxn id="9" idx="1"/>
            </p:cNvCxnSpPr>
            <p:nvPr/>
          </p:nvCxnSpPr>
          <p:spPr>
            <a:xfrm>
              <a:off x="4029756" y="1772182"/>
              <a:ext cx="233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FC444FA-069B-1167-CD39-FB12A074E9D2}"/>
                </a:ext>
              </a:extLst>
            </p:cNvPr>
            <p:cNvCxnSpPr>
              <a:cxnSpLocks/>
              <a:stCxn id="9" idx="3"/>
              <a:endCxn id="10" idx="1"/>
            </p:cNvCxnSpPr>
            <p:nvPr/>
          </p:nvCxnSpPr>
          <p:spPr>
            <a:xfrm>
              <a:off x="5265566" y="1772182"/>
              <a:ext cx="240803" cy="1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BB423BB-9B7E-4FF8-9EDD-17F16D0C0814}"/>
                </a:ext>
              </a:extLst>
            </p:cNvPr>
            <p:cNvCxnSpPr>
              <a:cxnSpLocks/>
              <a:stCxn id="10" idx="3"/>
              <a:endCxn id="11" idx="1"/>
            </p:cNvCxnSpPr>
            <p:nvPr/>
          </p:nvCxnSpPr>
          <p:spPr>
            <a:xfrm>
              <a:off x="6701370" y="1773696"/>
              <a:ext cx="424338" cy="8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19C9486-C370-4E81-CE76-DAE1573C6DD5}"/>
                </a:ext>
              </a:extLst>
            </p:cNvPr>
            <p:cNvCxnSpPr>
              <a:cxnSpLocks/>
              <a:stCxn id="11" idx="3"/>
              <a:endCxn id="12" idx="1"/>
            </p:cNvCxnSpPr>
            <p:nvPr/>
          </p:nvCxnSpPr>
          <p:spPr>
            <a:xfrm>
              <a:off x="8320709" y="1782195"/>
              <a:ext cx="12975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B9013DD5-0125-5907-50F4-2A3EC27E2E53}"/>
                </a:ext>
              </a:extLst>
            </p:cNvPr>
            <p:cNvSpPr/>
            <p:nvPr/>
          </p:nvSpPr>
          <p:spPr>
            <a:xfrm>
              <a:off x="11063828" y="1440563"/>
              <a:ext cx="1002385" cy="665727"/>
            </a:xfrm>
            <a:prstGeom prst="roundRect">
              <a:avLst>
                <a:gd name="adj" fmla="val 42029"/>
              </a:avLst>
            </a:prstGeom>
            <a:solidFill>
              <a:schemeClr val="bg1">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Booth Exit</a:t>
              </a:r>
            </a:p>
          </p:txBody>
        </p:sp>
        <p:cxnSp>
          <p:nvCxnSpPr>
            <p:cNvPr id="26" name="Straight Arrow Connector 25">
              <a:extLst>
                <a:ext uri="{FF2B5EF4-FFF2-40B4-BE49-F238E27FC236}">
                  <a16:creationId xmlns:a16="http://schemas.microsoft.com/office/drawing/2014/main" id="{16741A31-82F7-FBF4-CB22-957F92197931}"/>
                </a:ext>
              </a:extLst>
            </p:cNvPr>
            <p:cNvCxnSpPr>
              <a:cxnSpLocks/>
              <a:stCxn id="12" idx="3"/>
              <a:endCxn id="24" idx="1"/>
            </p:cNvCxnSpPr>
            <p:nvPr/>
          </p:nvCxnSpPr>
          <p:spPr>
            <a:xfrm flipV="1">
              <a:off x="10807900" y="1773427"/>
              <a:ext cx="255928" cy="8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2" name="Rectangle: Rounded Corners 131">
            <a:extLst>
              <a:ext uri="{FF2B5EF4-FFF2-40B4-BE49-F238E27FC236}">
                <a16:creationId xmlns:a16="http://schemas.microsoft.com/office/drawing/2014/main" id="{D23E7427-688B-57BC-02DC-83B1F21BF7FB}"/>
              </a:ext>
            </a:extLst>
          </p:cNvPr>
          <p:cNvSpPr/>
          <p:nvPr/>
        </p:nvSpPr>
        <p:spPr>
          <a:xfrm>
            <a:off x="11088303" y="6458774"/>
            <a:ext cx="1103697" cy="399226"/>
          </a:xfrm>
          <a:prstGeom prst="roundRect">
            <a:avLst>
              <a:gd name="adj" fmla="val 42029"/>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bg1"/>
                </a:solidFill>
              </a:rPr>
              <a:t>Not In PoC</a:t>
            </a:r>
          </a:p>
        </p:txBody>
      </p:sp>
      <p:cxnSp>
        <p:nvCxnSpPr>
          <p:cNvPr id="134" name="Straight Connector 133">
            <a:extLst>
              <a:ext uri="{FF2B5EF4-FFF2-40B4-BE49-F238E27FC236}">
                <a16:creationId xmlns:a16="http://schemas.microsoft.com/office/drawing/2014/main" id="{57D9C711-2728-917B-4698-4B7276CE8F1D}"/>
              </a:ext>
            </a:extLst>
          </p:cNvPr>
          <p:cNvCxnSpPr>
            <a:cxnSpLocks/>
            <a:stCxn id="29" idx="2"/>
            <a:endCxn id="23" idx="0"/>
          </p:cNvCxnSpPr>
          <p:nvPr/>
        </p:nvCxnSpPr>
        <p:spPr>
          <a:xfrm flipH="1">
            <a:off x="6896764" y="3593926"/>
            <a:ext cx="825293" cy="4806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7B3749D-C962-3A98-F78C-084A017F2EB1}"/>
              </a:ext>
            </a:extLst>
          </p:cNvPr>
          <p:cNvCxnSpPr>
            <a:cxnSpLocks/>
            <a:stCxn id="23" idx="2"/>
            <a:endCxn id="19" idx="0"/>
          </p:cNvCxnSpPr>
          <p:nvPr/>
        </p:nvCxnSpPr>
        <p:spPr>
          <a:xfrm>
            <a:off x="6896764" y="4794572"/>
            <a:ext cx="1" cy="378931"/>
          </a:xfrm>
          <a:prstGeom prst="line">
            <a:avLst/>
          </a:prstGeom>
        </p:spPr>
        <p:style>
          <a:lnRef idx="1">
            <a:schemeClr val="accent1"/>
          </a:lnRef>
          <a:fillRef idx="0">
            <a:schemeClr val="accent1"/>
          </a:fillRef>
          <a:effectRef idx="0">
            <a:schemeClr val="accent1"/>
          </a:effectRef>
          <a:fontRef idx="minor">
            <a:schemeClr val="tx1"/>
          </a:fontRef>
        </p:style>
      </p:cxnSp>
      <p:sp>
        <p:nvSpPr>
          <p:cNvPr id="139" name="Rectangle: Rounded Corners 138">
            <a:extLst>
              <a:ext uri="{FF2B5EF4-FFF2-40B4-BE49-F238E27FC236}">
                <a16:creationId xmlns:a16="http://schemas.microsoft.com/office/drawing/2014/main" id="{AC7D6FA8-91DB-8CEE-F146-7A813DB4A3A5}"/>
              </a:ext>
            </a:extLst>
          </p:cNvPr>
          <p:cNvSpPr/>
          <p:nvPr/>
        </p:nvSpPr>
        <p:spPr>
          <a:xfrm>
            <a:off x="9514544" y="4132000"/>
            <a:ext cx="1440000" cy="720000"/>
          </a:xfrm>
          <a:prstGeom prst="roundRect">
            <a:avLst>
              <a:gd name="adj" fmla="val 42029"/>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Print report</a:t>
            </a:r>
          </a:p>
        </p:txBody>
      </p:sp>
      <p:sp>
        <p:nvSpPr>
          <p:cNvPr id="140" name="Rectangle: Rounded Corners 139">
            <a:extLst>
              <a:ext uri="{FF2B5EF4-FFF2-40B4-BE49-F238E27FC236}">
                <a16:creationId xmlns:a16="http://schemas.microsoft.com/office/drawing/2014/main" id="{9EFB0AD7-B90B-4FBD-D77F-BFEDE6622636}"/>
              </a:ext>
            </a:extLst>
          </p:cNvPr>
          <p:cNvSpPr/>
          <p:nvPr/>
        </p:nvSpPr>
        <p:spPr>
          <a:xfrm>
            <a:off x="9505265" y="2816608"/>
            <a:ext cx="1440000" cy="7200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Robotic dispensing</a:t>
            </a:r>
          </a:p>
        </p:txBody>
      </p:sp>
      <p:cxnSp>
        <p:nvCxnSpPr>
          <p:cNvPr id="141" name="Straight Connector 140">
            <a:extLst>
              <a:ext uri="{FF2B5EF4-FFF2-40B4-BE49-F238E27FC236}">
                <a16:creationId xmlns:a16="http://schemas.microsoft.com/office/drawing/2014/main" id="{912CC8D8-3E21-0629-1356-00F6C506DFF3}"/>
              </a:ext>
            </a:extLst>
          </p:cNvPr>
          <p:cNvCxnSpPr>
            <a:stCxn id="140" idx="2"/>
            <a:endCxn id="139" idx="0"/>
          </p:cNvCxnSpPr>
          <p:nvPr/>
        </p:nvCxnSpPr>
        <p:spPr>
          <a:xfrm>
            <a:off x="10225265" y="3536608"/>
            <a:ext cx="9279" cy="595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B08333F-554A-66C1-7D67-DFD9C3778F1C}"/>
              </a:ext>
            </a:extLst>
          </p:cNvPr>
          <p:cNvCxnSpPr>
            <a:cxnSpLocks/>
            <a:stCxn id="11" idx="2"/>
            <a:endCxn id="29" idx="0"/>
          </p:cNvCxnSpPr>
          <p:nvPr/>
        </p:nvCxnSpPr>
        <p:spPr>
          <a:xfrm flipH="1">
            <a:off x="7722057" y="2140189"/>
            <a:ext cx="1152" cy="7337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74225C5-F405-EF52-A467-2DF94711D81E}"/>
              </a:ext>
            </a:extLst>
          </p:cNvPr>
          <p:cNvCxnSpPr>
            <a:cxnSpLocks/>
            <a:stCxn id="12" idx="2"/>
            <a:endCxn id="140" idx="0"/>
          </p:cNvCxnSpPr>
          <p:nvPr/>
        </p:nvCxnSpPr>
        <p:spPr>
          <a:xfrm>
            <a:off x="10213065" y="2140189"/>
            <a:ext cx="12200" cy="6764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60FDE5C-7555-FAFD-BA1B-73CEC5AA0628}"/>
              </a:ext>
            </a:extLst>
          </p:cNvPr>
          <p:cNvCxnSpPr>
            <a:cxnSpLocks/>
          </p:cNvCxnSpPr>
          <p:nvPr/>
        </p:nvCxnSpPr>
        <p:spPr>
          <a:xfrm>
            <a:off x="5686514" y="2946107"/>
            <a:ext cx="9595" cy="3401753"/>
          </a:xfrm>
          <a:prstGeom prst="line">
            <a:avLst/>
          </a:prstGeom>
        </p:spPr>
        <p:style>
          <a:lnRef idx="1">
            <a:schemeClr val="dk1"/>
          </a:lnRef>
          <a:fillRef idx="0">
            <a:schemeClr val="dk1"/>
          </a:fillRef>
          <a:effectRef idx="0">
            <a:schemeClr val="dk1"/>
          </a:effectRef>
          <a:fontRef idx="minor">
            <a:schemeClr val="tx1"/>
          </a:fontRef>
        </p:style>
      </p:cxnSp>
      <p:sp>
        <p:nvSpPr>
          <p:cNvPr id="63" name="Rectangle: Rounded Corners 62">
            <a:extLst>
              <a:ext uri="{FF2B5EF4-FFF2-40B4-BE49-F238E27FC236}">
                <a16:creationId xmlns:a16="http://schemas.microsoft.com/office/drawing/2014/main" id="{63B1B725-7538-49AD-C98C-AECC27CEA667}"/>
              </a:ext>
            </a:extLst>
          </p:cNvPr>
          <p:cNvSpPr/>
          <p:nvPr/>
        </p:nvSpPr>
        <p:spPr>
          <a:xfrm>
            <a:off x="289934" y="2322350"/>
            <a:ext cx="5133643" cy="4445283"/>
          </a:xfrm>
          <a:prstGeom prst="roundRect">
            <a:avLst>
              <a:gd name="adj" fmla="val 0"/>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sz="1200" dirty="0">
                <a:solidFill>
                  <a:schemeClr val="bg1"/>
                </a:solidFill>
              </a:rPr>
              <a:t>In PoC</a:t>
            </a:r>
          </a:p>
        </p:txBody>
      </p:sp>
      <p:sp>
        <p:nvSpPr>
          <p:cNvPr id="129" name="TextBox 128">
            <a:extLst>
              <a:ext uri="{FF2B5EF4-FFF2-40B4-BE49-F238E27FC236}">
                <a16:creationId xmlns:a16="http://schemas.microsoft.com/office/drawing/2014/main" id="{0A636AD3-4182-0CBD-4598-42CA10E149CE}"/>
              </a:ext>
            </a:extLst>
          </p:cNvPr>
          <p:cNvSpPr txBox="1"/>
          <p:nvPr/>
        </p:nvSpPr>
        <p:spPr>
          <a:xfrm>
            <a:off x="336023" y="2379968"/>
            <a:ext cx="4999983" cy="2800767"/>
          </a:xfrm>
          <a:prstGeom prst="rect">
            <a:avLst/>
          </a:prstGeom>
          <a:noFill/>
        </p:spPr>
        <p:txBody>
          <a:bodyPr wrap="square" rtlCol="0">
            <a:spAutoFit/>
          </a:bodyPr>
          <a:lstStyle/>
          <a:p>
            <a:r>
              <a:rPr lang="en-IN" sz="1600" b="1" dirty="0"/>
              <a:t>Technology Used- Review by doctor</a:t>
            </a:r>
          </a:p>
          <a:p>
            <a:endParaRPr lang="en-IN" sz="1600" dirty="0"/>
          </a:p>
          <a:p>
            <a:pPr marL="285750" indent="-285750">
              <a:buFont typeface="Arial" panose="020B0604020202020204" pitchFamily="34" charset="0"/>
              <a:buChar char="•"/>
            </a:pPr>
            <a:r>
              <a:rPr lang="en-IN" sz="1600" dirty="0"/>
              <a:t>Push.js: Push.js library is used to send a push request to a doctor.</a:t>
            </a:r>
          </a:p>
          <a:p>
            <a:pPr marL="285750" indent="-285750">
              <a:buFont typeface="Arial" panose="020B0604020202020204" pitchFamily="34" charset="0"/>
              <a:buChar char="•"/>
            </a:pPr>
            <a:r>
              <a:rPr lang="en-IN" sz="1600" dirty="0"/>
              <a:t>WebRTC: WebRTC is a protocol used for setting up an online meeting for the doctor. It allows video and audio interaction. </a:t>
            </a:r>
          </a:p>
          <a:p>
            <a:pPr marL="285750" indent="-285750">
              <a:buFont typeface="Arial" panose="020B0604020202020204" pitchFamily="34" charset="0"/>
              <a:buChar char="•"/>
            </a:pPr>
            <a:r>
              <a:rPr lang="en-IN" sz="1600" dirty="0"/>
              <a:t>HTML: HTML is used for rendering the website.</a:t>
            </a:r>
          </a:p>
          <a:p>
            <a:pPr marL="285750" indent="-285750">
              <a:buFont typeface="Arial" panose="020B0604020202020204" pitchFamily="34" charset="0"/>
              <a:buChar char="•"/>
            </a:pPr>
            <a:r>
              <a:rPr lang="en-IN" sz="1600" dirty="0"/>
              <a:t>JSON: JSON is used to append and store the doctor’s recommendations in a patient’s diagnosis and medication to the patient’s report.</a:t>
            </a:r>
          </a:p>
        </p:txBody>
      </p:sp>
      <p:sp>
        <p:nvSpPr>
          <p:cNvPr id="37" name="Rectangle: Rounded Corners 36">
            <a:extLst>
              <a:ext uri="{FF2B5EF4-FFF2-40B4-BE49-F238E27FC236}">
                <a16:creationId xmlns:a16="http://schemas.microsoft.com/office/drawing/2014/main" id="{3DBC8CEA-7DC0-EF03-C211-D5794F1323C4}"/>
              </a:ext>
            </a:extLst>
          </p:cNvPr>
          <p:cNvSpPr/>
          <p:nvPr/>
        </p:nvSpPr>
        <p:spPr>
          <a:xfrm>
            <a:off x="7796363" y="5131454"/>
            <a:ext cx="1440000" cy="7200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Online meet</a:t>
            </a:r>
          </a:p>
        </p:txBody>
      </p:sp>
      <p:sp>
        <p:nvSpPr>
          <p:cNvPr id="39" name="Rectangle: Rounded Corners 38">
            <a:extLst>
              <a:ext uri="{FF2B5EF4-FFF2-40B4-BE49-F238E27FC236}">
                <a16:creationId xmlns:a16="http://schemas.microsoft.com/office/drawing/2014/main" id="{07430DA2-B26F-6698-F96C-F602D643ED11}"/>
              </a:ext>
            </a:extLst>
          </p:cNvPr>
          <p:cNvSpPr/>
          <p:nvPr/>
        </p:nvSpPr>
        <p:spPr>
          <a:xfrm>
            <a:off x="7796362" y="4032523"/>
            <a:ext cx="1440000" cy="720000"/>
          </a:xfrm>
          <a:prstGeom prst="roundRect">
            <a:avLst>
              <a:gd name="adj" fmla="val 42029"/>
            </a:avLst>
          </a:prstGeom>
          <a:solidFill>
            <a:srgbClr val="84E2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rPr>
              <a:t>Reject</a:t>
            </a:r>
          </a:p>
        </p:txBody>
      </p:sp>
      <p:cxnSp>
        <p:nvCxnSpPr>
          <p:cNvPr id="41" name="Straight Connector 40">
            <a:extLst>
              <a:ext uri="{FF2B5EF4-FFF2-40B4-BE49-F238E27FC236}">
                <a16:creationId xmlns:a16="http://schemas.microsoft.com/office/drawing/2014/main" id="{BE8441E5-E9E1-656A-0602-B6DDE9A83D08}"/>
              </a:ext>
            </a:extLst>
          </p:cNvPr>
          <p:cNvCxnSpPr>
            <a:cxnSpLocks/>
            <a:stCxn id="39" idx="2"/>
            <a:endCxn id="37" idx="0"/>
          </p:cNvCxnSpPr>
          <p:nvPr/>
        </p:nvCxnSpPr>
        <p:spPr>
          <a:xfrm>
            <a:off x="8516362" y="4752523"/>
            <a:ext cx="1" cy="378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7D1F261-E2AF-7963-C614-F08E67279FB6}"/>
              </a:ext>
            </a:extLst>
          </p:cNvPr>
          <p:cNvCxnSpPr>
            <a:cxnSpLocks/>
            <a:stCxn id="29" idx="2"/>
            <a:endCxn id="39" idx="0"/>
          </p:cNvCxnSpPr>
          <p:nvPr/>
        </p:nvCxnSpPr>
        <p:spPr>
          <a:xfrm>
            <a:off x="7722057" y="3593926"/>
            <a:ext cx="794305" cy="438597"/>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94EEE2D3-C4C1-B470-01F7-49828F7184DB}"/>
              </a:ext>
            </a:extLst>
          </p:cNvPr>
          <p:cNvSpPr/>
          <p:nvPr/>
        </p:nvSpPr>
        <p:spPr>
          <a:xfrm>
            <a:off x="6103869" y="6224487"/>
            <a:ext cx="3328956" cy="527700"/>
          </a:xfrm>
          <a:prstGeom prst="roundRect">
            <a:avLst>
              <a:gd name="adj" fmla="val 4202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Share Diagnosis &amp; medication</a:t>
            </a:r>
          </a:p>
        </p:txBody>
      </p:sp>
      <p:cxnSp>
        <p:nvCxnSpPr>
          <p:cNvPr id="52" name="Straight Connector 51">
            <a:extLst>
              <a:ext uri="{FF2B5EF4-FFF2-40B4-BE49-F238E27FC236}">
                <a16:creationId xmlns:a16="http://schemas.microsoft.com/office/drawing/2014/main" id="{29619242-7135-8BB1-4E46-4E4133D2397E}"/>
              </a:ext>
            </a:extLst>
          </p:cNvPr>
          <p:cNvCxnSpPr>
            <a:cxnSpLocks/>
            <a:stCxn id="19" idx="2"/>
            <a:endCxn id="49" idx="0"/>
          </p:cNvCxnSpPr>
          <p:nvPr/>
        </p:nvCxnSpPr>
        <p:spPr>
          <a:xfrm>
            <a:off x="6896765" y="5893503"/>
            <a:ext cx="871582" cy="33098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2B852495-B15F-198C-9D10-7B537D80C678}"/>
              </a:ext>
            </a:extLst>
          </p:cNvPr>
          <p:cNvCxnSpPr>
            <a:cxnSpLocks/>
            <a:stCxn id="37" idx="2"/>
            <a:endCxn id="49" idx="0"/>
          </p:cNvCxnSpPr>
          <p:nvPr/>
        </p:nvCxnSpPr>
        <p:spPr>
          <a:xfrm flipH="1">
            <a:off x="7768347" y="5851454"/>
            <a:ext cx="748016" cy="373033"/>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1737D47-4AFA-B878-8F9F-5322219401FF}"/>
              </a:ext>
            </a:extLst>
          </p:cNvPr>
          <p:cNvSpPr txBox="1"/>
          <p:nvPr/>
        </p:nvSpPr>
        <p:spPr>
          <a:xfrm>
            <a:off x="358064" y="5178468"/>
            <a:ext cx="4999983" cy="1569660"/>
          </a:xfrm>
          <a:prstGeom prst="rect">
            <a:avLst/>
          </a:prstGeom>
          <a:noFill/>
        </p:spPr>
        <p:txBody>
          <a:bodyPr wrap="square" rtlCol="0">
            <a:spAutoFit/>
          </a:bodyPr>
          <a:lstStyle/>
          <a:p>
            <a:r>
              <a:rPr lang="en-IN" sz="1600" b="1" dirty="0"/>
              <a:t>Technology Used- Dispense medicine</a:t>
            </a:r>
          </a:p>
          <a:p>
            <a:endParaRPr lang="en-IN" sz="1600" b="1" dirty="0"/>
          </a:p>
          <a:p>
            <a:pPr marL="285750" indent="-285750">
              <a:buFont typeface="Arial" panose="020B0604020202020204" pitchFamily="34" charset="0"/>
              <a:buChar char="•"/>
            </a:pPr>
            <a:r>
              <a:rPr lang="en-IN" sz="1600" dirty="0"/>
              <a:t>YOLO: YOLO model can be used to recognize which medicine bottle has to be picked up.</a:t>
            </a:r>
          </a:p>
          <a:p>
            <a:pPr marL="285750" indent="-285750">
              <a:buFont typeface="Arial" panose="020B0604020202020204" pitchFamily="34" charset="0"/>
              <a:buChar char="•"/>
            </a:pPr>
            <a:r>
              <a:rPr lang="en-IN" sz="1600" dirty="0"/>
              <a:t>Adafruit: adafruit-circuitpython-pca9685 library allows the robot to pick up the required medicine.</a:t>
            </a:r>
          </a:p>
        </p:txBody>
      </p:sp>
    </p:spTree>
    <p:extLst>
      <p:ext uri="{BB962C8B-B14F-4D97-AF65-F5344CB8AC3E}">
        <p14:creationId xmlns:p14="http://schemas.microsoft.com/office/powerpoint/2010/main" val="203798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7"/>
          <p:cNvSpPr txBox="1">
            <a:spLocks noGrp="1"/>
          </p:cNvSpPr>
          <p:nvPr>
            <p:ph type="title"/>
          </p:nvPr>
        </p:nvSpPr>
        <p:spPr>
          <a:xfrm>
            <a:off x="0"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IN" dirty="0">
                <a:latin typeface="Arial"/>
                <a:ea typeface="Arial"/>
                <a:cs typeface="Arial"/>
                <a:sym typeface="Arial"/>
              </a:rPr>
              <a:t> Impact &amp; Future Scope</a:t>
            </a:r>
            <a:endParaRPr dirty="0"/>
          </a:p>
        </p:txBody>
      </p:sp>
      <p:grpSp>
        <p:nvGrpSpPr>
          <p:cNvPr id="191" name="Google Shape;191;p7"/>
          <p:cNvGrpSpPr/>
          <p:nvPr/>
        </p:nvGrpSpPr>
        <p:grpSpPr>
          <a:xfrm>
            <a:off x="312819" y="1323475"/>
            <a:ext cx="11755935" cy="1965960"/>
            <a:chOff x="312819" y="1323475"/>
            <a:chExt cx="11755935" cy="1965960"/>
          </a:xfrm>
        </p:grpSpPr>
        <p:sp>
          <p:nvSpPr>
            <p:cNvPr id="192" name="Google Shape;192;p7"/>
            <p:cNvSpPr/>
            <p:nvPr/>
          </p:nvSpPr>
          <p:spPr>
            <a:xfrm>
              <a:off x="312819" y="1323475"/>
              <a:ext cx="2880000" cy="1965960"/>
            </a:xfrm>
            <a:prstGeom prst="roundRect">
              <a:avLst>
                <a:gd name="adj" fmla="val 4651"/>
              </a:avLst>
            </a:prstGeom>
            <a:solidFill>
              <a:srgbClr val="02809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7"/>
            <p:cNvSpPr/>
            <p:nvPr/>
          </p:nvSpPr>
          <p:spPr>
            <a:xfrm>
              <a:off x="513987" y="1524643"/>
              <a:ext cx="502920" cy="502920"/>
            </a:xfrm>
            <a:prstGeom prst="ellipse">
              <a:avLst/>
            </a:prstGeom>
            <a:solidFill>
              <a:srgbClr val="02C39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94" name="Google Shape;194;p7" descr="preencoded.png"/>
            <p:cNvPicPr preferRelativeResize="0"/>
            <p:nvPr/>
          </p:nvPicPr>
          <p:blipFill rotWithShape="1">
            <a:blip r:embed="rId3">
              <a:alphaModFix/>
            </a:blip>
            <a:srcRect/>
            <a:stretch/>
          </p:blipFill>
          <p:spPr>
            <a:xfrm>
              <a:off x="614571" y="1625227"/>
              <a:ext cx="301752" cy="301752"/>
            </a:xfrm>
            <a:prstGeom prst="rect">
              <a:avLst/>
            </a:prstGeom>
            <a:noFill/>
            <a:ln>
              <a:noFill/>
            </a:ln>
          </p:spPr>
        </p:pic>
        <p:sp>
          <p:nvSpPr>
            <p:cNvPr id="195" name="Google Shape;195;p7"/>
            <p:cNvSpPr/>
            <p:nvPr/>
          </p:nvSpPr>
          <p:spPr>
            <a:xfrm>
              <a:off x="1218075" y="1561219"/>
              <a:ext cx="220370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IN" sz="1600" b="1">
                  <a:solidFill>
                    <a:srgbClr val="FFFFFF"/>
                  </a:solidFill>
                  <a:latin typeface="Arial"/>
                  <a:ea typeface="Arial"/>
                  <a:cs typeface="Arial"/>
                  <a:sym typeface="Arial"/>
                </a:rPr>
                <a:t>Faster healthcare</a:t>
              </a:r>
              <a:endParaRPr sz="1600">
                <a:solidFill>
                  <a:schemeClr val="dk1"/>
                </a:solidFill>
                <a:latin typeface="Arial"/>
                <a:ea typeface="Arial"/>
                <a:cs typeface="Arial"/>
                <a:sym typeface="Arial"/>
              </a:endParaRPr>
            </a:p>
          </p:txBody>
        </p:sp>
        <p:sp>
          <p:nvSpPr>
            <p:cNvPr id="196" name="Google Shape;196;p7"/>
            <p:cNvSpPr/>
            <p:nvPr/>
          </p:nvSpPr>
          <p:spPr>
            <a:xfrm>
              <a:off x="674834" y="2265307"/>
              <a:ext cx="2203704" cy="6858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rgbClr val="E3F5F2"/>
                </a:buClr>
                <a:buSzPts val="1600"/>
                <a:buFont typeface="Arial"/>
                <a:buNone/>
              </a:pPr>
              <a:r>
                <a:rPr lang="en-IN" sz="1600">
                  <a:solidFill>
                    <a:srgbClr val="E3F5F2"/>
                  </a:solidFill>
                  <a:latin typeface="Arial"/>
                  <a:ea typeface="Arial"/>
                  <a:cs typeface="Arial"/>
                  <a:sym typeface="Arial"/>
                </a:rPr>
                <a:t>First-level check-up in minutes, right inside the village.</a:t>
              </a:r>
              <a:endParaRPr sz="1600">
                <a:solidFill>
                  <a:schemeClr val="dk1"/>
                </a:solidFill>
                <a:latin typeface="Arial"/>
                <a:ea typeface="Arial"/>
                <a:cs typeface="Arial"/>
                <a:sym typeface="Arial"/>
              </a:endParaRPr>
            </a:p>
          </p:txBody>
        </p:sp>
        <p:sp>
          <p:nvSpPr>
            <p:cNvPr id="197" name="Google Shape;197;p7"/>
            <p:cNvSpPr/>
            <p:nvPr/>
          </p:nvSpPr>
          <p:spPr>
            <a:xfrm>
              <a:off x="3254300" y="1323475"/>
              <a:ext cx="2880000" cy="1965960"/>
            </a:xfrm>
            <a:prstGeom prst="roundRect">
              <a:avLst>
                <a:gd name="adj" fmla="val 4651"/>
              </a:avLst>
            </a:prstGeom>
            <a:solidFill>
              <a:srgbClr val="02809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8" name="Google Shape;198;p7"/>
            <p:cNvSpPr/>
            <p:nvPr/>
          </p:nvSpPr>
          <p:spPr>
            <a:xfrm>
              <a:off x="3330339" y="1524643"/>
              <a:ext cx="502920" cy="502920"/>
            </a:xfrm>
            <a:prstGeom prst="ellipse">
              <a:avLst/>
            </a:prstGeom>
            <a:solidFill>
              <a:srgbClr val="02C39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99" name="Google Shape;199;p7" descr="preencoded.png"/>
            <p:cNvPicPr preferRelativeResize="0"/>
            <p:nvPr/>
          </p:nvPicPr>
          <p:blipFill rotWithShape="1">
            <a:blip r:embed="rId4">
              <a:alphaModFix/>
            </a:blip>
            <a:srcRect/>
            <a:stretch/>
          </p:blipFill>
          <p:spPr>
            <a:xfrm>
              <a:off x="3430923" y="1625227"/>
              <a:ext cx="301752" cy="301752"/>
            </a:xfrm>
            <a:prstGeom prst="rect">
              <a:avLst/>
            </a:prstGeom>
            <a:noFill/>
            <a:ln>
              <a:noFill/>
            </a:ln>
          </p:spPr>
        </p:pic>
        <p:sp>
          <p:nvSpPr>
            <p:cNvPr id="200" name="Google Shape;200;p7"/>
            <p:cNvSpPr/>
            <p:nvPr/>
          </p:nvSpPr>
          <p:spPr>
            <a:xfrm>
              <a:off x="3993279" y="1561219"/>
              <a:ext cx="220370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IN" sz="1600" b="1">
                  <a:solidFill>
                    <a:srgbClr val="FFFFFF"/>
                  </a:solidFill>
                  <a:latin typeface="Arial"/>
                  <a:ea typeface="Arial"/>
                  <a:cs typeface="Arial"/>
                  <a:sym typeface="Arial"/>
                </a:rPr>
                <a:t>Decongested OPDs</a:t>
              </a:r>
              <a:endParaRPr sz="1600">
                <a:solidFill>
                  <a:schemeClr val="dk1"/>
                </a:solidFill>
                <a:latin typeface="Arial"/>
                <a:ea typeface="Arial"/>
                <a:cs typeface="Arial"/>
                <a:sym typeface="Arial"/>
              </a:endParaRPr>
            </a:p>
          </p:txBody>
        </p:sp>
        <p:sp>
          <p:nvSpPr>
            <p:cNvPr id="201" name="Google Shape;201;p7"/>
            <p:cNvSpPr/>
            <p:nvPr/>
          </p:nvSpPr>
          <p:spPr>
            <a:xfrm>
              <a:off x="3609469" y="2238383"/>
              <a:ext cx="2203704" cy="6858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rgbClr val="E3F5F2"/>
                </a:buClr>
                <a:buSzPts val="1600"/>
                <a:buFont typeface="Arial"/>
                <a:buNone/>
              </a:pPr>
              <a:r>
                <a:rPr lang="en-IN" sz="1600">
                  <a:solidFill>
                    <a:srgbClr val="E3F5F2"/>
                  </a:solidFill>
                  <a:latin typeface="Arial"/>
                  <a:ea typeface="Arial"/>
                  <a:cs typeface="Arial"/>
                  <a:sym typeface="Arial"/>
                </a:rPr>
                <a:t>Minor cases handled at the kiosk, so hospitals see fewer crowds.</a:t>
              </a:r>
              <a:endParaRPr sz="1600">
                <a:solidFill>
                  <a:schemeClr val="dk1"/>
                </a:solidFill>
                <a:latin typeface="Arial"/>
                <a:ea typeface="Arial"/>
                <a:cs typeface="Arial"/>
                <a:sym typeface="Arial"/>
              </a:endParaRPr>
            </a:p>
          </p:txBody>
        </p:sp>
        <p:sp>
          <p:nvSpPr>
            <p:cNvPr id="202" name="Google Shape;202;p7"/>
            <p:cNvSpPr/>
            <p:nvPr/>
          </p:nvSpPr>
          <p:spPr>
            <a:xfrm>
              <a:off x="6247275" y="1323475"/>
              <a:ext cx="2880000" cy="1965960"/>
            </a:xfrm>
            <a:prstGeom prst="roundRect">
              <a:avLst>
                <a:gd name="adj" fmla="val 4651"/>
              </a:avLst>
            </a:prstGeom>
            <a:solidFill>
              <a:srgbClr val="02809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3" name="Google Shape;203;p7"/>
            <p:cNvSpPr/>
            <p:nvPr/>
          </p:nvSpPr>
          <p:spPr>
            <a:xfrm>
              <a:off x="6339194" y="1524643"/>
              <a:ext cx="502920" cy="502920"/>
            </a:xfrm>
            <a:prstGeom prst="ellipse">
              <a:avLst/>
            </a:prstGeom>
            <a:solidFill>
              <a:srgbClr val="02C39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204" name="Google Shape;204;p7" descr="preencoded.png"/>
            <p:cNvPicPr preferRelativeResize="0"/>
            <p:nvPr/>
          </p:nvPicPr>
          <p:blipFill rotWithShape="1">
            <a:blip r:embed="rId5">
              <a:alphaModFix/>
            </a:blip>
            <a:srcRect/>
            <a:stretch/>
          </p:blipFill>
          <p:spPr>
            <a:xfrm>
              <a:off x="6433094" y="1625227"/>
              <a:ext cx="301752" cy="301752"/>
            </a:xfrm>
            <a:prstGeom prst="rect">
              <a:avLst/>
            </a:prstGeom>
            <a:noFill/>
            <a:ln>
              <a:noFill/>
            </a:ln>
          </p:spPr>
        </p:pic>
        <p:sp>
          <p:nvSpPr>
            <p:cNvPr id="205" name="Google Shape;205;p7"/>
            <p:cNvSpPr/>
            <p:nvPr/>
          </p:nvSpPr>
          <p:spPr>
            <a:xfrm>
              <a:off x="7031010" y="1547503"/>
              <a:ext cx="220370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IN" sz="1600" b="1">
                  <a:solidFill>
                    <a:srgbClr val="FFFFFF"/>
                  </a:solidFill>
                  <a:latin typeface="Arial"/>
                  <a:ea typeface="Arial"/>
                  <a:cs typeface="Arial"/>
                  <a:sym typeface="Arial"/>
                </a:rPr>
                <a:t>Specialists freed up</a:t>
              </a:r>
              <a:endParaRPr sz="1600">
                <a:solidFill>
                  <a:schemeClr val="dk1"/>
                </a:solidFill>
                <a:latin typeface="Arial"/>
                <a:ea typeface="Arial"/>
                <a:cs typeface="Arial"/>
                <a:sym typeface="Arial"/>
              </a:endParaRPr>
            </a:p>
          </p:txBody>
        </p:sp>
        <p:sp>
          <p:nvSpPr>
            <p:cNvPr id="206" name="Google Shape;206;p7"/>
            <p:cNvSpPr/>
            <p:nvPr/>
          </p:nvSpPr>
          <p:spPr>
            <a:xfrm>
              <a:off x="6647200" y="2238383"/>
              <a:ext cx="2203704" cy="6858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rgbClr val="E3F5F2"/>
                </a:buClr>
                <a:buSzPts val="1600"/>
                <a:buFont typeface="Arial"/>
                <a:buNone/>
              </a:pPr>
              <a:r>
                <a:rPr lang="en-IN" sz="1600">
                  <a:solidFill>
                    <a:srgbClr val="E3F5F2"/>
                  </a:solidFill>
                  <a:latin typeface="Arial"/>
                  <a:ea typeface="Arial"/>
                  <a:cs typeface="Arial"/>
                  <a:sym typeface="Arial"/>
                </a:rPr>
                <a:t>Doctors spend time on serious cases instead of routine ones.</a:t>
              </a:r>
              <a:endParaRPr sz="1600">
                <a:solidFill>
                  <a:schemeClr val="dk1"/>
                </a:solidFill>
                <a:latin typeface="Arial"/>
                <a:ea typeface="Arial"/>
                <a:cs typeface="Arial"/>
                <a:sym typeface="Arial"/>
              </a:endParaRPr>
            </a:p>
          </p:txBody>
        </p:sp>
        <p:sp>
          <p:nvSpPr>
            <p:cNvPr id="207" name="Google Shape;207;p7"/>
            <p:cNvSpPr/>
            <p:nvPr/>
          </p:nvSpPr>
          <p:spPr>
            <a:xfrm>
              <a:off x="9188754" y="1323475"/>
              <a:ext cx="2880000" cy="1965960"/>
            </a:xfrm>
            <a:prstGeom prst="roundRect">
              <a:avLst>
                <a:gd name="adj" fmla="val 4651"/>
              </a:avLst>
            </a:prstGeom>
            <a:solidFill>
              <a:srgbClr val="02809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8" name="Google Shape;208;p7"/>
            <p:cNvSpPr/>
            <p:nvPr/>
          </p:nvSpPr>
          <p:spPr>
            <a:xfrm>
              <a:off x="9246986" y="1524643"/>
              <a:ext cx="502920" cy="502920"/>
            </a:xfrm>
            <a:prstGeom prst="ellipse">
              <a:avLst/>
            </a:prstGeom>
            <a:solidFill>
              <a:srgbClr val="02C39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209" name="Google Shape;209;p7" descr="preencoded.png"/>
            <p:cNvPicPr preferRelativeResize="0"/>
            <p:nvPr/>
          </p:nvPicPr>
          <p:blipFill rotWithShape="1">
            <a:blip r:embed="rId6">
              <a:alphaModFix/>
            </a:blip>
            <a:srcRect/>
            <a:stretch/>
          </p:blipFill>
          <p:spPr>
            <a:xfrm>
              <a:off x="9335806" y="1625227"/>
              <a:ext cx="301752" cy="301752"/>
            </a:xfrm>
            <a:prstGeom prst="rect">
              <a:avLst/>
            </a:prstGeom>
            <a:noFill/>
            <a:ln>
              <a:noFill/>
            </a:ln>
          </p:spPr>
        </p:pic>
        <p:sp>
          <p:nvSpPr>
            <p:cNvPr id="210" name="Google Shape;210;p7"/>
            <p:cNvSpPr/>
            <p:nvPr/>
          </p:nvSpPr>
          <p:spPr>
            <a:xfrm>
              <a:off x="9806214" y="1547503"/>
              <a:ext cx="220370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IN" sz="1600" b="1">
                  <a:solidFill>
                    <a:srgbClr val="FFFFFF"/>
                  </a:solidFill>
                  <a:latin typeface="Arial"/>
                  <a:ea typeface="Arial"/>
                  <a:cs typeface="Arial"/>
                  <a:sym typeface="Arial"/>
                </a:rPr>
                <a:t>Less waiting &amp; travel</a:t>
              </a:r>
              <a:endParaRPr sz="1600">
                <a:solidFill>
                  <a:schemeClr val="dk1"/>
                </a:solidFill>
                <a:latin typeface="Arial"/>
                <a:ea typeface="Arial"/>
                <a:cs typeface="Arial"/>
                <a:sym typeface="Arial"/>
              </a:endParaRPr>
            </a:p>
          </p:txBody>
        </p:sp>
        <p:sp>
          <p:nvSpPr>
            <p:cNvPr id="211" name="Google Shape;211;p7"/>
            <p:cNvSpPr/>
            <p:nvPr/>
          </p:nvSpPr>
          <p:spPr>
            <a:xfrm>
              <a:off x="9463552" y="2238383"/>
              <a:ext cx="2203704" cy="6858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rgbClr val="E3F5F2"/>
                </a:buClr>
                <a:buSzPts val="1600"/>
                <a:buFont typeface="Arial"/>
                <a:buNone/>
              </a:pPr>
              <a:r>
                <a:rPr lang="en-IN" sz="1600">
                  <a:solidFill>
                    <a:srgbClr val="E3F5F2"/>
                  </a:solidFill>
                  <a:latin typeface="Arial"/>
                  <a:ea typeface="Arial"/>
                  <a:cs typeface="Arial"/>
                  <a:sym typeface="Arial"/>
                </a:rPr>
                <a:t>No lost wages or long queues for a simple consultation.</a:t>
              </a:r>
              <a:endParaRPr sz="1600">
                <a:solidFill>
                  <a:schemeClr val="dk1"/>
                </a:solidFill>
                <a:latin typeface="Arial"/>
                <a:ea typeface="Arial"/>
                <a:cs typeface="Arial"/>
                <a:sym typeface="Arial"/>
              </a:endParaRPr>
            </a:p>
          </p:txBody>
        </p:sp>
      </p:grpSp>
      <p:sp>
        <p:nvSpPr>
          <p:cNvPr id="212" name="Google Shape;212;p7"/>
          <p:cNvSpPr/>
          <p:nvPr/>
        </p:nvSpPr>
        <p:spPr>
          <a:xfrm>
            <a:off x="386119" y="3538487"/>
            <a:ext cx="54864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C39A"/>
              </a:buClr>
              <a:buSzPts val="2400"/>
              <a:buFont typeface="Arial"/>
              <a:buNone/>
            </a:pPr>
            <a:r>
              <a:rPr lang="en-IN" sz="2400" b="1">
                <a:solidFill>
                  <a:srgbClr val="02C39A"/>
                </a:solidFill>
                <a:latin typeface="Arial"/>
                <a:ea typeface="Arial"/>
                <a:cs typeface="Arial"/>
                <a:sym typeface="Arial"/>
              </a:rPr>
              <a:t>Future scope</a:t>
            </a:r>
            <a:endParaRPr sz="2400">
              <a:solidFill>
                <a:schemeClr val="dk1"/>
              </a:solidFill>
              <a:latin typeface="Arial"/>
              <a:ea typeface="Arial"/>
              <a:cs typeface="Arial"/>
              <a:sym typeface="Arial"/>
            </a:endParaRPr>
          </a:p>
        </p:txBody>
      </p:sp>
      <p:sp>
        <p:nvSpPr>
          <p:cNvPr id="213" name="Google Shape;213;p7"/>
          <p:cNvSpPr/>
          <p:nvPr/>
        </p:nvSpPr>
        <p:spPr>
          <a:xfrm>
            <a:off x="297425" y="4044050"/>
            <a:ext cx="9018300" cy="2814000"/>
          </a:xfrm>
          <a:prstGeom prst="rect">
            <a:avLst/>
          </a:prstGeom>
          <a:noFill/>
          <a:ln>
            <a:noFill/>
          </a:ln>
        </p:spPr>
        <p:txBody>
          <a:bodyPr spcFirstLastPara="1" wrap="square" lIns="0" tIns="0" rIns="0" bIns="0" anchor="ctr" anchorCtr="0">
            <a:noAutofit/>
          </a:bodyPr>
          <a:lstStyle/>
          <a:p>
            <a:pPr marL="177800" marR="0" lvl="0" indent="-152400" algn="l" rtl="0">
              <a:lnSpc>
                <a:spcPct val="150000"/>
              </a:lnSpc>
              <a:spcBef>
                <a:spcPts val="0"/>
              </a:spcBef>
              <a:spcAft>
                <a:spcPts val="0"/>
              </a:spcAft>
              <a:buClr>
                <a:schemeClr val="dk1"/>
              </a:buClr>
              <a:buSzPts val="1400"/>
              <a:buFont typeface="Arial"/>
              <a:buChar char="•"/>
            </a:pPr>
            <a:r>
              <a:rPr lang="en-IN" dirty="0">
                <a:solidFill>
                  <a:schemeClr val="dk1"/>
                </a:solidFill>
                <a:latin typeface="Arial"/>
                <a:ea typeface="Arial"/>
                <a:cs typeface="Arial"/>
                <a:sym typeface="Arial"/>
              </a:rPr>
              <a:t>Add more tests: blood sugar strips, ECG patch, basic eye &amp; hearing screening.</a:t>
            </a:r>
            <a:endParaRPr dirty="0">
              <a:solidFill>
                <a:schemeClr val="dk1"/>
              </a:solidFill>
              <a:latin typeface="Arial"/>
              <a:ea typeface="Arial"/>
              <a:cs typeface="Arial"/>
              <a:sym typeface="Arial"/>
            </a:endParaRPr>
          </a:p>
          <a:p>
            <a:pPr marL="177800" marR="0" lvl="0" indent="-152400" algn="l" rtl="0">
              <a:lnSpc>
                <a:spcPct val="150000"/>
              </a:lnSpc>
              <a:spcBef>
                <a:spcPts val="800"/>
              </a:spcBef>
              <a:spcAft>
                <a:spcPts val="0"/>
              </a:spcAft>
              <a:buClr>
                <a:schemeClr val="dk1"/>
              </a:buClr>
              <a:buSzPts val="1400"/>
              <a:buFont typeface="Arial"/>
              <a:buChar char="•"/>
            </a:pPr>
            <a:r>
              <a:rPr lang="en-IN" dirty="0">
                <a:solidFill>
                  <a:schemeClr val="dk1"/>
                </a:solidFill>
                <a:latin typeface="Arial"/>
                <a:ea typeface="Arial"/>
                <a:cs typeface="Arial"/>
                <a:sym typeface="Arial"/>
              </a:rPr>
              <a:t>Link every report to the patient's ABHA digital health record for lifelong history.</a:t>
            </a:r>
            <a:endParaRPr dirty="0">
              <a:solidFill>
                <a:schemeClr val="dk1"/>
              </a:solidFill>
              <a:latin typeface="Arial"/>
              <a:ea typeface="Arial"/>
              <a:cs typeface="Arial"/>
              <a:sym typeface="Arial"/>
            </a:endParaRPr>
          </a:p>
          <a:p>
            <a:pPr marL="177800" marR="0" lvl="0" indent="-152400" algn="l" rtl="0">
              <a:lnSpc>
                <a:spcPct val="150000"/>
              </a:lnSpc>
              <a:spcBef>
                <a:spcPts val="800"/>
              </a:spcBef>
              <a:spcAft>
                <a:spcPts val="0"/>
              </a:spcAft>
              <a:buClr>
                <a:schemeClr val="dk1"/>
              </a:buClr>
              <a:buSzPts val="1400"/>
              <a:buFont typeface="Arial"/>
              <a:buChar char="•"/>
            </a:pPr>
            <a:r>
              <a:rPr lang="en-IN" dirty="0">
                <a:solidFill>
                  <a:schemeClr val="dk1"/>
                </a:solidFill>
                <a:latin typeface="Arial"/>
                <a:ea typeface="Arial"/>
                <a:cs typeface="Arial"/>
                <a:sym typeface="Arial"/>
              </a:rPr>
              <a:t>Use anonymised village data to alert officials about disease outbreaks early.</a:t>
            </a:r>
            <a:endParaRPr dirty="0">
              <a:solidFill>
                <a:schemeClr val="dk1"/>
              </a:solidFill>
              <a:latin typeface="Arial"/>
              <a:ea typeface="Arial"/>
              <a:cs typeface="Arial"/>
              <a:sym typeface="Arial"/>
            </a:endParaRPr>
          </a:p>
          <a:p>
            <a:pPr marL="177800" marR="0" lvl="0" indent="-152400" algn="l" rtl="0">
              <a:lnSpc>
                <a:spcPct val="150000"/>
              </a:lnSpc>
              <a:spcBef>
                <a:spcPts val="800"/>
              </a:spcBef>
              <a:spcAft>
                <a:spcPts val="0"/>
              </a:spcAft>
              <a:buClr>
                <a:schemeClr val="dk1"/>
              </a:buClr>
              <a:buSzPts val="1400"/>
              <a:buFont typeface="Arial"/>
              <a:buChar char="•"/>
            </a:pPr>
            <a:r>
              <a:rPr lang="en-IN" dirty="0">
                <a:solidFill>
                  <a:schemeClr val="dk1"/>
                </a:solidFill>
                <a:latin typeface="Arial"/>
                <a:ea typeface="Arial"/>
                <a:cs typeface="Arial"/>
                <a:sym typeface="Arial"/>
              </a:rPr>
              <a:t>Solar power + offline mode so kiosks work even with weak electricity or internet.</a:t>
            </a:r>
            <a:endParaRPr dirty="0">
              <a:solidFill>
                <a:schemeClr val="dk1"/>
              </a:solidFill>
              <a:latin typeface="Arial"/>
              <a:ea typeface="Arial"/>
              <a:cs typeface="Arial"/>
              <a:sym typeface="Arial"/>
            </a:endParaRPr>
          </a:p>
          <a:p>
            <a:pPr marL="177800" marR="0" lvl="0" indent="-152400" algn="l" rtl="0">
              <a:lnSpc>
                <a:spcPct val="150000"/>
              </a:lnSpc>
              <a:spcBef>
                <a:spcPts val="800"/>
              </a:spcBef>
              <a:spcAft>
                <a:spcPts val="0"/>
              </a:spcAft>
              <a:buClr>
                <a:schemeClr val="dk1"/>
              </a:buClr>
              <a:buSzPts val="1400"/>
              <a:buFont typeface="Arial"/>
              <a:buChar char="•"/>
            </a:pPr>
            <a:r>
              <a:rPr lang="en-IN" dirty="0">
                <a:solidFill>
                  <a:schemeClr val="dk1"/>
                </a:solidFill>
                <a:latin typeface="Arial"/>
                <a:ea typeface="Arial"/>
                <a:cs typeface="Arial"/>
                <a:sym typeface="Arial"/>
              </a:rPr>
              <a:t>Scale from one village to a district-wide network run with local health workers (ASHAs)</a:t>
            </a:r>
            <a:endParaRPr dirty="0">
              <a:solidFill>
                <a:schemeClr val="dk1"/>
              </a:solidFill>
              <a:latin typeface="Arial"/>
              <a:ea typeface="Arial"/>
              <a:cs typeface="Arial"/>
              <a:sym typeface="Arial"/>
            </a:endParaRPr>
          </a:p>
          <a:p>
            <a:pPr marL="177800" marR="0" lvl="0" indent="-152400" algn="l" rtl="0">
              <a:lnSpc>
                <a:spcPct val="150000"/>
              </a:lnSpc>
              <a:spcBef>
                <a:spcPts val="800"/>
              </a:spcBef>
              <a:spcAft>
                <a:spcPts val="0"/>
              </a:spcAft>
              <a:buClr>
                <a:schemeClr val="dk1"/>
              </a:buClr>
              <a:buSzPts val="1400"/>
              <a:buChar char="•"/>
            </a:pPr>
            <a:r>
              <a:rPr lang="en-IN" dirty="0">
                <a:solidFill>
                  <a:schemeClr val="dk1"/>
                </a:solidFill>
              </a:rPr>
              <a:t>External link:</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IN" u="sng" dirty="0">
                <a:solidFill>
                  <a:srgbClr val="0000FF"/>
                </a:solidFill>
                <a:hlinkClick r:id="rId7">
                  <a:extLst>
                    <a:ext uri="{A12FA001-AC4F-418D-AE19-62706E023703}">
                      <ahyp:hlinkClr xmlns:ahyp="http://schemas.microsoft.com/office/drawing/2018/hyperlinkcolor" val="tx"/>
                    </a:ext>
                  </a:extLst>
                </a:hlinkClick>
              </a:rPr>
              <a:t>https://docs.google.com/document/d/1ZCZfzZupEzLPW2j9h5pHD_JS4Qk-SkGE9nn89oN3pU8/edit?tab=t.0</a:t>
            </a:r>
            <a:endParaRPr dirty="0">
              <a:solidFill>
                <a:schemeClr val="dk1"/>
              </a:solidFill>
            </a:endParaRPr>
          </a:p>
        </p:txBody>
      </p:sp>
      <p:grpSp>
        <p:nvGrpSpPr>
          <p:cNvPr id="214" name="Google Shape;214;p7"/>
          <p:cNvGrpSpPr/>
          <p:nvPr/>
        </p:nvGrpSpPr>
        <p:grpSpPr>
          <a:xfrm>
            <a:off x="9188754" y="3493120"/>
            <a:ext cx="2898164" cy="1965960"/>
            <a:chOff x="9188754" y="3493120"/>
            <a:chExt cx="2898164" cy="1965960"/>
          </a:xfrm>
        </p:grpSpPr>
        <p:sp>
          <p:nvSpPr>
            <p:cNvPr id="215" name="Google Shape;215;p7"/>
            <p:cNvSpPr/>
            <p:nvPr/>
          </p:nvSpPr>
          <p:spPr>
            <a:xfrm>
              <a:off x="9188754" y="3493120"/>
              <a:ext cx="2880000" cy="1965960"/>
            </a:xfrm>
            <a:prstGeom prst="roundRect">
              <a:avLst>
                <a:gd name="adj" fmla="val 4651"/>
              </a:avLst>
            </a:prstGeom>
            <a:solidFill>
              <a:srgbClr val="02809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6" name="Google Shape;216;p7"/>
            <p:cNvSpPr/>
            <p:nvPr/>
          </p:nvSpPr>
          <p:spPr>
            <a:xfrm>
              <a:off x="9266036" y="3681588"/>
              <a:ext cx="502920" cy="502920"/>
            </a:xfrm>
            <a:prstGeom prst="ellipse">
              <a:avLst/>
            </a:prstGeom>
            <a:solidFill>
              <a:srgbClr val="02C39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7" name="Google Shape;217;p7"/>
            <p:cNvSpPr/>
            <p:nvPr/>
          </p:nvSpPr>
          <p:spPr>
            <a:xfrm>
              <a:off x="9883214" y="3717148"/>
              <a:ext cx="220370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IN" sz="1600">
                  <a:solidFill>
                    <a:schemeClr val="lt1"/>
                  </a:solidFill>
                  <a:latin typeface="Arial"/>
                  <a:ea typeface="Arial"/>
                  <a:cs typeface="Arial"/>
                  <a:sym typeface="Arial"/>
                </a:rPr>
                <a:t>Faster referrals</a:t>
              </a:r>
              <a:endParaRPr sz="1600">
                <a:solidFill>
                  <a:schemeClr val="lt1"/>
                </a:solidFill>
                <a:latin typeface="Arial"/>
                <a:ea typeface="Arial"/>
                <a:cs typeface="Arial"/>
                <a:sym typeface="Arial"/>
              </a:endParaRPr>
            </a:p>
          </p:txBody>
        </p:sp>
        <p:sp>
          <p:nvSpPr>
            <p:cNvPr id="218" name="Google Shape;218;p7"/>
            <p:cNvSpPr/>
            <p:nvPr/>
          </p:nvSpPr>
          <p:spPr>
            <a:xfrm>
              <a:off x="9463552" y="4408028"/>
              <a:ext cx="2546366" cy="6858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None/>
              </a:pPr>
              <a:r>
                <a:rPr lang="en-IN" sz="1600">
                  <a:solidFill>
                    <a:schemeClr val="lt1"/>
                  </a:solidFill>
                  <a:latin typeface="Arial"/>
                  <a:ea typeface="Arial"/>
                  <a:cs typeface="Arial"/>
                  <a:sym typeface="Arial"/>
                </a:rPr>
                <a:t>Patients requiring examination can be directed to appropriate facilities.</a:t>
              </a:r>
              <a:endParaRPr sz="1600">
                <a:solidFill>
                  <a:schemeClr val="lt1"/>
                </a:solidFill>
                <a:latin typeface="Arial"/>
                <a:ea typeface="Arial"/>
                <a:cs typeface="Arial"/>
                <a:sym typeface="Arial"/>
              </a:endParaRPr>
            </a:p>
          </p:txBody>
        </p:sp>
        <p:sp>
          <p:nvSpPr>
            <p:cNvPr id="219" name="Google Shape;219;p7" descr="Abacus outline"/>
            <p:cNvSpPr/>
            <p:nvPr/>
          </p:nvSpPr>
          <p:spPr>
            <a:xfrm>
              <a:off x="9352070" y="3771855"/>
              <a:ext cx="315119" cy="315119"/>
            </a:xfrm>
            <a:prstGeom prst="rect">
              <a:avLst/>
            </a:prstGeom>
            <a:noFill/>
            <a:ln>
              <a:noFill/>
            </a:ln>
          </p:spPr>
          <p:txBody>
            <a:bodyPr/>
            <a:lstStyle/>
            <a:p>
              <a:endParaRPr lang="en-IN"/>
            </a:p>
          </p:txBody>
        </p:sp>
      </p:grpSp>
      <p:grpSp>
        <p:nvGrpSpPr>
          <p:cNvPr id="220" name="Google Shape;220;p7"/>
          <p:cNvGrpSpPr/>
          <p:nvPr/>
        </p:nvGrpSpPr>
        <p:grpSpPr>
          <a:xfrm>
            <a:off x="9170590" y="5680941"/>
            <a:ext cx="2880000" cy="839125"/>
            <a:chOff x="9170590" y="5680941"/>
            <a:chExt cx="2880000" cy="839125"/>
          </a:xfrm>
        </p:grpSpPr>
        <p:sp>
          <p:nvSpPr>
            <p:cNvPr id="221" name="Google Shape;221;p7"/>
            <p:cNvSpPr/>
            <p:nvPr/>
          </p:nvSpPr>
          <p:spPr>
            <a:xfrm>
              <a:off x="9170590" y="5680941"/>
              <a:ext cx="2880000" cy="839125"/>
            </a:xfrm>
            <a:prstGeom prst="roundRect">
              <a:avLst>
                <a:gd name="adj" fmla="val 4651"/>
              </a:avLst>
            </a:prstGeom>
            <a:solidFill>
              <a:srgbClr val="02809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2" name="Google Shape;222;p7"/>
            <p:cNvSpPr/>
            <p:nvPr/>
          </p:nvSpPr>
          <p:spPr>
            <a:xfrm>
              <a:off x="9228533" y="5836389"/>
              <a:ext cx="448056" cy="448056"/>
            </a:xfrm>
            <a:prstGeom prst="ellipse">
              <a:avLst/>
            </a:prstGeom>
            <a:solidFill>
              <a:srgbClr val="02C39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3" name="Google Shape;223;p7"/>
            <p:cNvSpPr/>
            <p:nvPr/>
          </p:nvSpPr>
          <p:spPr>
            <a:xfrm>
              <a:off x="9723082" y="5865707"/>
              <a:ext cx="232695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IN" sz="1600">
                  <a:solidFill>
                    <a:schemeClr val="lt1"/>
                  </a:solidFill>
                  <a:latin typeface="Arial"/>
                  <a:ea typeface="Arial"/>
                  <a:cs typeface="Arial"/>
                  <a:sym typeface="Arial"/>
                </a:rPr>
                <a:t>AI assists. Doctor decides.</a:t>
              </a:r>
              <a:endParaRPr sz="1600">
                <a:solidFill>
                  <a:schemeClr val="lt1"/>
                </a:solidFill>
                <a:latin typeface="Arial"/>
                <a:ea typeface="Arial"/>
                <a:cs typeface="Arial"/>
                <a:sym typeface="Arial"/>
              </a:endParaRPr>
            </a:p>
          </p:txBody>
        </p:sp>
        <p:sp>
          <p:nvSpPr>
            <p:cNvPr id="224" name="Google Shape;224;p7" descr="Address Book outline"/>
            <p:cNvSpPr/>
            <p:nvPr/>
          </p:nvSpPr>
          <p:spPr>
            <a:xfrm>
              <a:off x="9285613" y="5896534"/>
              <a:ext cx="334933" cy="334933"/>
            </a:xfrm>
            <a:prstGeom prst="rect">
              <a:avLst/>
            </a:prstGeom>
            <a:noFill/>
            <a:ln>
              <a:noFill/>
            </a:ln>
          </p:spPr>
          <p:txBody>
            <a:bodyPr/>
            <a:lstStyle/>
            <a:p>
              <a:endParaRPr lang="en-IN"/>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CA09F-2DA0-6201-B7E4-C623D31B8B29}"/>
              </a:ext>
            </a:extLst>
          </p:cNvPr>
          <p:cNvSpPr>
            <a:spLocks noGrp="1"/>
          </p:cNvSpPr>
          <p:nvPr>
            <p:ph type="title"/>
          </p:nvPr>
        </p:nvSpPr>
        <p:spPr>
          <a:xfrm>
            <a:off x="0" y="18255"/>
            <a:ext cx="10515600" cy="1325563"/>
          </a:xfrm>
        </p:spPr>
        <p:txBody>
          <a:bodyPr/>
          <a:lstStyle/>
          <a:p>
            <a:r>
              <a:rPr lang="en-US" dirty="0">
                <a:latin typeface="+mj-lt"/>
              </a:rPr>
              <a:t> Closing statements</a:t>
            </a:r>
            <a:endParaRPr lang="en-IN" dirty="0">
              <a:latin typeface="+mj-lt"/>
            </a:endParaRPr>
          </a:p>
        </p:txBody>
      </p:sp>
      <p:sp>
        <p:nvSpPr>
          <p:cNvPr id="3" name="Text Placeholder 2">
            <a:extLst>
              <a:ext uri="{FF2B5EF4-FFF2-40B4-BE49-F238E27FC236}">
                <a16:creationId xmlns:a16="http://schemas.microsoft.com/office/drawing/2014/main" id="{F1667F40-8F96-C1D7-A9BF-D0C9B7A6B8EF}"/>
              </a:ext>
            </a:extLst>
          </p:cNvPr>
          <p:cNvSpPr>
            <a:spLocks noGrp="1"/>
          </p:cNvSpPr>
          <p:nvPr>
            <p:ph type="body" idx="1"/>
          </p:nvPr>
        </p:nvSpPr>
        <p:spPr>
          <a:xfrm>
            <a:off x="555171" y="1584693"/>
            <a:ext cx="11146971" cy="4924963"/>
          </a:xfrm>
        </p:spPr>
        <p:txBody>
          <a:bodyPr>
            <a:normAutofit/>
          </a:bodyPr>
          <a:lstStyle/>
          <a:p>
            <a:r>
              <a:rPr lang="en-US" dirty="0"/>
              <a:t>The uniqueness lies in AI diagnosis and recommendations. The recommendation themselves are subject to doctor’s expert review and opinion before it can be shared with the patient. </a:t>
            </a:r>
          </a:p>
          <a:p>
            <a:r>
              <a:rPr lang="en-US" dirty="0"/>
              <a:t>Using AI to perform the preliminary diagnosis can potentially – </a:t>
            </a:r>
          </a:p>
          <a:p>
            <a:pPr lvl="1"/>
            <a:r>
              <a:rPr lang="en-US" dirty="0"/>
              <a:t>Ease the pressure on the OPD in hospitals</a:t>
            </a:r>
          </a:p>
          <a:p>
            <a:pPr lvl="1"/>
            <a:r>
              <a:rPr lang="en-US" dirty="0"/>
              <a:t>Improve accessibility for health consultation</a:t>
            </a:r>
          </a:p>
          <a:p>
            <a:pPr lvl="1"/>
            <a:r>
              <a:rPr lang="en-US" dirty="0"/>
              <a:t>It is not restricted to rural areas alone, but can be used in urban areas as well–a lab reports can have an AI analysis included along with the standard health report.</a:t>
            </a:r>
          </a:p>
          <a:p>
            <a:r>
              <a:rPr lang="en-US" dirty="0"/>
              <a:t>The AI model itself can be improved, which is an area for further development and research.</a:t>
            </a:r>
          </a:p>
          <a:p>
            <a:endParaRPr lang="en-IN" dirty="0"/>
          </a:p>
        </p:txBody>
      </p:sp>
    </p:spTree>
    <p:extLst>
      <p:ext uri="{BB962C8B-B14F-4D97-AF65-F5344CB8AC3E}">
        <p14:creationId xmlns:p14="http://schemas.microsoft.com/office/powerpoint/2010/main" val="3758813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8"/>
          <p:cNvSpPr txBox="1">
            <a:spLocks noGrp="1"/>
          </p:cNvSpPr>
          <p:nvPr>
            <p:ph type="body" idx="1"/>
          </p:nvPr>
        </p:nvSpPr>
        <p:spPr>
          <a:xfrm>
            <a:off x="838200" y="3035299"/>
            <a:ext cx="10515600" cy="154940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800"/>
              <a:buNone/>
            </a:pPr>
            <a:r>
              <a:rPr lang="en-IN" sz="4800"/>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413</TotalTime>
  <Words>1574</Words>
  <Application>Microsoft Office PowerPoint</Application>
  <PresentationFormat>Widescreen</PresentationFormat>
  <Paragraphs>187</Paragraphs>
  <Slides>11</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Calibri</vt:lpstr>
      <vt:lpstr>Play</vt:lpstr>
      <vt:lpstr>Arial</vt:lpstr>
      <vt:lpstr>Office Theme</vt:lpstr>
      <vt:lpstr> Sri Kumaran Public School – ICSE, Mallasandra</vt:lpstr>
      <vt:lpstr> Problem Statement &amp; SDG Alignment</vt:lpstr>
      <vt:lpstr> Proposed Solution / Design &amp; Technology used</vt:lpstr>
      <vt:lpstr> Proof of Concept — How One Visit Works</vt:lpstr>
      <vt:lpstr> Workflow</vt:lpstr>
      <vt:lpstr> Workflow - Breakup</vt:lpstr>
      <vt:lpstr> Workflow - Breakup</vt:lpstr>
      <vt:lpstr> Workflow - Breakup</vt:lpstr>
      <vt:lpstr> Impact &amp; Future Scope</vt:lpstr>
      <vt:lpstr> Closing statements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Aravind Anand</dc:creator>
  <cp:lastModifiedBy>Akshobha Aravind</cp:lastModifiedBy>
  <cp:revision>156</cp:revision>
  <dcterms:created xsi:type="dcterms:W3CDTF">2026-07-26T07:03:03Z</dcterms:created>
  <dcterms:modified xsi:type="dcterms:W3CDTF">2026-08-12T15:15:04Z</dcterms:modified>
</cp:coreProperties>
</file>